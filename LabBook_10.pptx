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6"/>
  </p:notesMasterIdLst>
  <p:handoutMasterIdLst>
    <p:handoutMasterId r:id="rId27"/>
  </p:handoutMasterIdLst>
  <p:sldIdLst>
    <p:sldId id="256" r:id="rId5"/>
    <p:sldId id="295" r:id="rId6"/>
    <p:sldId id="290" r:id="rId7"/>
    <p:sldId id="298" r:id="rId8"/>
    <p:sldId id="299" r:id="rId9"/>
    <p:sldId id="300" r:id="rId10"/>
    <p:sldId id="301" r:id="rId11"/>
    <p:sldId id="304" r:id="rId12"/>
    <p:sldId id="302" r:id="rId13"/>
    <p:sldId id="291" r:id="rId14"/>
    <p:sldId id="305" r:id="rId15"/>
    <p:sldId id="292" r:id="rId16"/>
    <p:sldId id="297" r:id="rId17"/>
    <p:sldId id="306" r:id="rId18"/>
    <p:sldId id="293" r:id="rId19"/>
    <p:sldId id="307" r:id="rId20"/>
    <p:sldId id="308" r:id="rId21"/>
    <p:sldId id="309" r:id="rId22"/>
    <p:sldId id="310" r:id="rId23"/>
    <p:sldId id="311" r:id="rId24"/>
    <p:sldId id="288" r:id="rId2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AC1330-FB8E-6247-A9D0-6734A0935FAA}" v="1" dt="2026-03-13T17:28:13.84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p:cViewPr varScale="1">
        <p:scale>
          <a:sx n="106" d="100"/>
          <a:sy n="106" d="100"/>
        </p:scale>
        <p:origin x="756" y="96"/>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14/03/2026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14/03/2026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2742764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860186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397254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3727747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sv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noProof="0" err="1">
                <a:latin typeface="Lucida Sans"/>
                <a:cs typeface="Lucida Sans"/>
              </a:rPr>
              <a:t>Lab</a:t>
            </a:r>
            <a:r>
              <a:rPr lang="es-ES" sz="3200" b="1" noProof="0">
                <a:latin typeface="Lucida Sans"/>
                <a:cs typeface="Lucida Sans"/>
              </a:rPr>
              <a:t> Book 1.0. </a:t>
            </a:r>
            <a:r>
              <a:rPr lang="es-ES" sz="3200" b="1" noProof="0" err="1">
                <a:latin typeface="Lucida Sans"/>
                <a:cs typeface="Lucida Sans"/>
              </a:rPr>
              <a:t>Waveguides</a:t>
            </a:r>
            <a:endParaRPr lang="es-ES" sz="3200" noProof="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noProof="0" err="1">
                <a:latin typeface="Arial"/>
                <a:cs typeface="Arial"/>
              </a:rPr>
              <a:t>Student</a:t>
            </a:r>
            <a:r>
              <a:rPr lang="es-ES" spc="165" noProof="0">
                <a:latin typeface="Arial"/>
                <a:cs typeface="Arial"/>
              </a:rPr>
              <a:t>: </a:t>
            </a:r>
            <a:r>
              <a:rPr lang="es-ES" spc="165" noProof="0" dirty="0">
                <a:latin typeface="Arial"/>
                <a:cs typeface="Arial"/>
              </a:rPr>
              <a:t>Sergio Ferraz Díaz y Alex Blanes Ferri </a:t>
            </a:r>
            <a:endParaRPr lang="es-ES" sz="1800" noProof="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lang="es-ES" noProof="0"/>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noProof="0" smtClean="0"/>
              <a:t>1</a:t>
            </a:fld>
            <a:endParaRPr lang="es-ES" noProof="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noProof="0" err="1">
                <a:latin typeface="+mj-lt"/>
                <a:cs typeface="Lucida Sans"/>
              </a:rPr>
              <a:t>Instructions</a:t>
            </a:r>
            <a:br>
              <a:rPr lang="es-ES" sz="2400" spc="-5" noProof="0">
                <a:latin typeface="+mj-lt"/>
                <a:cs typeface="Lucida Sans"/>
              </a:rPr>
            </a:br>
            <a:r>
              <a:rPr lang="es-ES" b="0" spc="-5" noProof="0">
                <a:latin typeface="+mj-lt"/>
                <a:cs typeface="Lucida Sans"/>
              </a:rPr>
              <a:t>General</a:t>
            </a:r>
            <a:endParaRPr lang="es-ES" sz="2400" b="0" noProof="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noProof="0" smtClean="0"/>
              <a:t>2</a:t>
            </a:fld>
            <a:endParaRPr lang="es-ES" noProof="0"/>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noProof="0"/>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s-ES" sz="2000" b="1" kern="0" noProof="0">
                <a:solidFill>
                  <a:sysClr val="windowText" lastClr="000000"/>
                </a:solidFill>
                <a:sym typeface="Wingdings" pitchFamily="2" charset="2"/>
              </a:rPr>
              <a:t>SCRIPTS</a:t>
            </a:r>
          </a:p>
          <a:p>
            <a:pPr marL="342900" indent="-342900" algn="just">
              <a:buFont typeface="Arial" panose="020B0604020202020204" pitchFamily="34" charset="0"/>
              <a:buChar char="•"/>
            </a:pPr>
            <a:r>
              <a:rPr lang="es-ES" kern="0" noProof="0" err="1">
                <a:solidFill>
                  <a:sysClr val="windowText" lastClr="000000"/>
                </a:solidFill>
                <a:sym typeface="Wingdings" pitchFamily="2" charset="2"/>
              </a:rPr>
              <a:t>From</a:t>
            </a:r>
            <a:r>
              <a:rPr lang="es-ES" kern="0" noProof="0">
                <a:solidFill>
                  <a:sysClr val="windowText" lastClr="000000"/>
                </a:solidFill>
                <a:sym typeface="Wingdings" pitchFamily="2" charset="2"/>
              </a:rPr>
              <a:t> 	GitHub  </a:t>
            </a:r>
          </a:p>
          <a:p>
            <a:pPr marL="800100" lvl="1" indent="-342900" algn="just">
              <a:buFont typeface="Arial" panose="020B0604020202020204" pitchFamily="34" charset="0"/>
              <a:buChar char="•"/>
            </a:pPr>
            <a:r>
              <a:rPr lang="es-ES" kern="0" noProof="0" err="1">
                <a:solidFill>
                  <a:sysClr val="windowText" lastClr="000000"/>
                </a:solidFill>
                <a:sym typeface="Wingdings" pitchFamily="2" charset="2"/>
              </a:rPr>
              <a:t>Fork</a:t>
            </a:r>
            <a:r>
              <a:rPr lang="es-ES" kern="0" noProof="0">
                <a:solidFill>
                  <a:sysClr val="windowText" lastClr="000000"/>
                </a:solidFill>
                <a:sym typeface="Wingdings" pitchFamily="2" charset="2"/>
              </a:rPr>
              <a:t> </a:t>
            </a:r>
            <a:r>
              <a:rPr lang="es-ES" kern="0" noProof="0" err="1">
                <a:solidFill>
                  <a:sysClr val="windowText" lastClr="000000"/>
                </a:solidFill>
                <a:sym typeface="Wingdings" pitchFamily="2" charset="2"/>
              </a:rPr>
              <a:t>the</a:t>
            </a:r>
            <a:r>
              <a:rPr lang="es-ES" kern="0" noProof="0">
                <a:solidFill>
                  <a:sysClr val="windowText" lastClr="000000"/>
                </a:solidFill>
                <a:sym typeface="Wingdings" pitchFamily="2" charset="2"/>
              </a:rPr>
              <a:t> repo: https://github.com/cccanvas-upv/cifoin-lab1.git</a:t>
            </a:r>
          </a:p>
          <a:p>
            <a:pPr marL="800100" lvl="1" indent="-342900" algn="just">
              <a:buFont typeface="Arial" panose="020B0604020202020204" pitchFamily="34" charset="0"/>
              <a:buChar char="•"/>
            </a:pPr>
            <a:r>
              <a:rPr lang="es-ES" kern="0" noProof="0">
                <a:solidFill>
                  <a:sysClr val="windowText" lastClr="000000"/>
                </a:solidFill>
                <a:sym typeface="Wingdings" pitchFamily="2" charset="2"/>
              </a:rPr>
              <a:t>Clone </a:t>
            </a:r>
            <a:r>
              <a:rPr lang="es-ES" kern="0" noProof="0" err="1">
                <a:solidFill>
                  <a:sysClr val="windowText" lastClr="000000"/>
                </a:solidFill>
                <a:sym typeface="Wingdings" pitchFamily="2" charset="2"/>
              </a:rPr>
              <a:t>the</a:t>
            </a:r>
            <a:r>
              <a:rPr lang="es-ES" kern="0" noProof="0">
                <a:solidFill>
                  <a:sysClr val="windowText" lastClr="000000"/>
                </a:solidFill>
                <a:sym typeface="Wingdings" pitchFamily="2" charset="2"/>
              </a:rPr>
              <a:t> repo </a:t>
            </a:r>
            <a:r>
              <a:rPr lang="es-ES" kern="0" noProof="0" err="1">
                <a:solidFill>
                  <a:sysClr val="windowText" lastClr="000000"/>
                </a:solidFill>
                <a:sym typeface="Wingdings" pitchFamily="2" charset="2"/>
              </a:rPr>
              <a:t>using</a:t>
            </a:r>
            <a:r>
              <a:rPr lang="es-ES" kern="0" noProof="0">
                <a:solidFill>
                  <a:sysClr val="windowText" lastClr="000000"/>
                </a:solidFill>
                <a:sym typeface="Wingdings" pitchFamily="2" charset="2"/>
              </a:rPr>
              <a:t> </a:t>
            </a:r>
            <a:r>
              <a:rPr lang="es-ES" kern="0" noProof="0" err="1">
                <a:solidFill>
                  <a:sysClr val="windowText" lastClr="000000"/>
                </a:solidFill>
                <a:sym typeface="Wingdings" pitchFamily="2" charset="2"/>
              </a:rPr>
              <a:t>VSCode</a:t>
            </a:r>
            <a:endParaRPr lang="es-ES" kern="0" noProof="0">
              <a:solidFill>
                <a:sysClr val="windowText" lastClr="000000"/>
              </a:solidFill>
              <a:sym typeface="Wingdings" pitchFamily="2" charset="2"/>
            </a:endParaRPr>
          </a:p>
          <a:p>
            <a:pPr marL="342900" indent="-342900" algn="just">
              <a:buFont typeface="Arial" panose="020B0604020202020204" pitchFamily="34" charset="0"/>
              <a:buChar char="•"/>
            </a:pPr>
            <a:r>
              <a:rPr lang="es-ES" kern="0" noProof="0">
                <a:solidFill>
                  <a:sysClr val="windowText" lastClr="000000"/>
                </a:solidFill>
              </a:rPr>
              <a:t>Run </a:t>
            </a:r>
            <a:r>
              <a:rPr lang="es-ES" kern="0" noProof="0" err="1">
                <a:solidFill>
                  <a:sysClr val="windowText" lastClr="000000"/>
                </a:solidFill>
              </a:rPr>
              <a:t>the</a:t>
            </a:r>
            <a:r>
              <a:rPr lang="es-ES" kern="0" noProof="0">
                <a:solidFill>
                  <a:sysClr val="windowText" lastClr="000000"/>
                </a:solidFill>
              </a:rPr>
              <a:t> </a:t>
            </a:r>
            <a:r>
              <a:rPr lang="es-ES" kern="0" noProof="0" err="1">
                <a:solidFill>
                  <a:sysClr val="windowText" lastClr="000000"/>
                </a:solidFill>
              </a:rPr>
              <a:t>Jupyter</a:t>
            </a:r>
            <a:r>
              <a:rPr lang="es-ES" kern="0" noProof="0">
                <a:solidFill>
                  <a:sysClr val="windowText" lastClr="000000"/>
                </a:solidFill>
              </a:rPr>
              <a:t> Notebook: </a:t>
            </a:r>
          </a:p>
          <a:p>
            <a:pPr marL="800100" lvl="1" indent="-342900" algn="just">
              <a:buFont typeface="Arial" panose="020B0604020202020204" pitchFamily="34" charset="0"/>
              <a:buChar char="•"/>
            </a:pPr>
            <a:r>
              <a:rPr lang="es-ES" kern="0" noProof="0" err="1">
                <a:solidFill>
                  <a:sysClr val="windowText" lastClr="000000"/>
                </a:solidFill>
              </a:rPr>
              <a:t>WAVEGUIDES_Student.ipynb</a:t>
            </a:r>
            <a:r>
              <a:rPr lang="es-ES" kern="0" noProof="0">
                <a:solidFill>
                  <a:sysClr val="windowText" lastClr="000000"/>
                </a:solidFill>
              </a:rPr>
              <a:t> </a:t>
            </a:r>
          </a:p>
          <a:p>
            <a:pPr algn="just"/>
            <a:endParaRPr lang="es-ES" sz="2000" b="1" i="1" u="sng" noProof="0"/>
          </a:p>
          <a:p>
            <a:pPr algn="just"/>
            <a:endParaRPr lang="es-ES" sz="2000" kern="0" noProof="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noProof="0">
                <a:latin typeface="Calibri"/>
                <a:cs typeface="Calibri"/>
              </a:rPr>
              <a:t>h</a:t>
            </a:r>
          </a:p>
          <a:p>
            <a:pPr marR="5080" algn="ctr">
              <a:lnSpc>
                <a:spcPct val="100000"/>
              </a:lnSpc>
              <a:spcBef>
                <a:spcPts val="5"/>
              </a:spcBef>
            </a:pPr>
            <a:r>
              <a:rPr lang="es-ES" sz="1400" spc="-10" noProof="0">
                <a:latin typeface="Calibri"/>
                <a:cs typeface="Calibri"/>
              </a:rPr>
              <a:t>(</a:t>
            </a:r>
            <a:r>
              <a:rPr lang="es-ES" sz="1400" spc="-10" noProof="0" err="1">
                <a:latin typeface="Calibri"/>
                <a:cs typeface="Calibri"/>
              </a:rPr>
              <a:t>h</a:t>
            </a:r>
            <a:r>
              <a:rPr lang="es-ES" sz="1400" noProof="0" err="1">
                <a:latin typeface="Calibri"/>
                <a:cs typeface="Calibri"/>
              </a:rPr>
              <a:t>eig</a:t>
            </a:r>
            <a:r>
              <a:rPr lang="es-ES" sz="1400" spc="-25" noProof="0" err="1">
                <a:latin typeface="Calibri"/>
                <a:cs typeface="Calibri"/>
              </a:rPr>
              <a:t>h</a:t>
            </a:r>
            <a:r>
              <a:rPr lang="es-ES" sz="1400" spc="-5" noProof="0" err="1">
                <a:latin typeface="Calibri"/>
                <a:cs typeface="Calibri"/>
              </a:rPr>
              <a:t>t</a:t>
            </a:r>
            <a:r>
              <a:rPr lang="es-ES" sz="1400" noProof="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28909"/>
          </a:xfrm>
          <a:prstGeom prst="rect">
            <a:avLst/>
          </a:prstGeom>
        </p:spPr>
        <p:txBody>
          <a:bodyPr vert="horz" wrap="square" lIns="0" tIns="13335" rIns="0" bIns="0" rtlCol="0">
            <a:spAutoFit/>
          </a:bodyPr>
          <a:lstStyle/>
          <a:p>
            <a:pPr>
              <a:lnSpc>
                <a:spcPct val="100000"/>
              </a:lnSpc>
              <a:spcBef>
                <a:spcPts val="105"/>
              </a:spcBef>
            </a:pPr>
            <a:r>
              <a:rPr lang="es-ES" sz="1400" spc="5" noProof="0">
                <a:latin typeface="Calibri"/>
                <a:cs typeface="Calibri"/>
              </a:rPr>
              <a:t>W</a:t>
            </a:r>
            <a:r>
              <a:rPr lang="es-ES" sz="1400" spc="-65" noProof="0">
                <a:latin typeface="Calibri"/>
                <a:cs typeface="Calibri"/>
              </a:rPr>
              <a:t> </a:t>
            </a:r>
            <a:r>
              <a:rPr lang="es-ES" sz="1400" spc="-5" noProof="0">
                <a:latin typeface="Calibri"/>
                <a:cs typeface="Calibri"/>
              </a:rPr>
              <a:t>(</a:t>
            </a:r>
            <a:r>
              <a:rPr lang="es-ES" sz="1400" spc="-5" noProof="0" err="1">
                <a:latin typeface="Calibri"/>
                <a:cs typeface="Calibri"/>
              </a:rPr>
              <a:t>width</a:t>
            </a:r>
            <a:r>
              <a:rPr lang="es-ES" sz="1400" spc="-5" noProof="0">
                <a:latin typeface="Calibri"/>
                <a:cs typeface="Calibri"/>
              </a:rPr>
              <a:t>)</a:t>
            </a:r>
            <a:endParaRPr lang="es-ES" sz="1400" noProof="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a:latin typeface="Times New Roman"/>
              <a:cs typeface="Times New Roman"/>
            </a:endParaRPr>
          </a:p>
          <a:p>
            <a:pPr marL="18415" algn="ctr">
              <a:lnSpc>
                <a:spcPct val="100000"/>
              </a:lnSpc>
            </a:pPr>
            <a:r>
              <a:rPr lang="es-ES" sz="1600" b="1" spc="-10" noProof="0">
                <a:latin typeface="Calibri"/>
                <a:cs typeface="Calibri"/>
              </a:rPr>
              <a:t>Core</a:t>
            </a:r>
            <a:endParaRPr lang="es-ES" sz="1600" noProof="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58404"/>
          </a:xfrm>
          <a:prstGeom prst="rect">
            <a:avLst/>
          </a:prstGeom>
        </p:spPr>
        <p:txBody>
          <a:bodyPr vert="horz" wrap="square" lIns="0" tIns="12065" rIns="0" bIns="0" rtlCol="0">
            <a:spAutoFit/>
          </a:bodyPr>
          <a:lstStyle/>
          <a:p>
            <a:pPr>
              <a:lnSpc>
                <a:spcPct val="100000"/>
              </a:lnSpc>
              <a:spcBef>
                <a:spcPts val="95"/>
              </a:spcBef>
            </a:pPr>
            <a:r>
              <a:rPr lang="es-ES" sz="1600" b="1" spc="-10" noProof="0" err="1">
                <a:latin typeface="Calibri"/>
                <a:cs typeface="Calibri"/>
              </a:rPr>
              <a:t>Cladding</a:t>
            </a:r>
            <a:endParaRPr lang="es-ES" sz="1600" noProof="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lang="es-ES" noProof="0"/>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lang="es-ES" noProof="0"/>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28909"/>
          </a:xfrm>
          <a:prstGeom prst="rect">
            <a:avLst/>
          </a:prstGeom>
        </p:spPr>
        <p:txBody>
          <a:bodyPr vert="horz" wrap="square" lIns="0" tIns="13335" rIns="0" bIns="0" rtlCol="0">
            <a:spAutoFit/>
          </a:bodyPr>
          <a:lstStyle/>
          <a:p>
            <a:pPr>
              <a:lnSpc>
                <a:spcPct val="100000"/>
              </a:lnSpc>
              <a:spcBef>
                <a:spcPts val="105"/>
              </a:spcBef>
            </a:pPr>
            <a:r>
              <a:rPr lang="es-ES" sz="1400" spc="5" noProof="0">
                <a:latin typeface="Calibri"/>
                <a:cs typeface="Calibri"/>
              </a:rPr>
              <a:t>W</a:t>
            </a:r>
            <a:r>
              <a:rPr lang="es-ES" sz="1400" spc="-65" noProof="0">
                <a:latin typeface="Calibri"/>
                <a:cs typeface="Calibri"/>
              </a:rPr>
              <a:t> </a:t>
            </a:r>
            <a:r>
              <a:rPr lang="es-ES" sz="1400" spc="-5" noProof="0">
                <a:latin typeface="Calibri"/>
                <a:cs typeface="Calibri"/>
              </a:rPr>
              <a:t>(</a:t>
            </a:r>
            <a:r>
              <a:rPr lang="es-ES" sz="1400" spc="-5" noProof="0" err="1">
                <a:latin typeface="Calibri"/>
                <a:cs typeface="Calibri"/>
              </a:rPr>
              <a:t>width</a:t>
            </a:r>
            <a:r>
              <a:rPr lang="es-ES" sz="1400" spc="-5" noProof="0">
                <a:latin typeface="Calibri"/>
                <a:cs typeface="Calibri"/>
              </a:rPr>
              <a:t>)</a:t>
            </a:r>
            <a:endParaRPr lang="es-ES" sz="1400" noProof="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a:latin typeface="Times New Roman"/>
              <a:cs typeface="Times New Roman"/>
            </a:endParaRPr>
          </a:p>
          <a:p>
            <a:pPr marL="18415" algn="ctr">
              <a:lnSpc>
                <a:spcPct val="100000"/>
              </a:lnSpc>
            </a:pPr>
            <a:r>
              <a:rPr lang="es-ES" sz="1600" b="1" spc="-10" noProof="0">
                <a:latin typeface="Calibri"/>
                <a:cs typeface="Calibri"/>
              </a:rPr>
              <a:t>Core</a:t>
            </a:r>
            <a:endParaRPr lang="es-ES" sz="1600" noProof="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58404"/>
          </a:xfrm>
          <a:prstGeom prst="rect">
            <a:avLst/>
          </a:prstGeom>
        </p:spPr>
        <p:txBody>
          <a:bodyPr vert="horz" wrap="square" lIns="0" tIns="12065" rIns="0" bIns="0" rtlCol="0">
            <a:spAutoFit/>
          </a:bodyPr>
          <a:lstStyle/>
          <a:p>
            <a:pPr>
              <a:lnSpc>
                <a:spcPct val="100000"/>
              </a:lnSpc>
              <a:spcBef>
                <a:spcPts val="95"/>
              </a:spcBef>
            </a:pPr>
            <a:r>
              <a:rPr lang="es-ES" sz="1600" b="1" spc="-10" noProof="0" err="1">
                <a:latin typeface="Calibri"/>
                <a:cs typeface="Calibri"/>
              </a:rPr>
              <a:t>Cladding</a:t>
            </a:r>
            <a:endParaRPr lang="es-ES" sz="1600" noProof="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noProof="0">
              <a:latin typeface="Times New Roman"/>
              <a:cs typeface="Times New Roman"/>
            </a:endParaRPr>
          </a:p>
          <a:p>
            <a:pPr marL="18415">
              <a:lnSpc>
                <a:spcPct val="100000"/>
              </a:lnSpc>
            </a:pPr>
            <a:r>
              <a:rPr lang="es-ES" sz="1600" b="1" spc="-10" noProof="0" err="1">
                <a:latin typeface="Calibri"/>
                <a:cs typeface="Calibri"/>
              </a:rPr>
              <a:t>Slab</a:t>
            </a:r>
            <a:endParaRPr lang="es-ES" sz="1600" noProof="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lang="es-ES" noProof="0"/>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noProof="0" err="1">
                <a:latin typeface="Calibri"/>
                <a:cs typeface="Calibri"/>
              </a:rPr>
              <a:t>h_slab</a:t>
            </a:r>
            <a:endParaRPr lang="es-ES" sz="1400" noProof="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noProof="0" err="1">
                <a:latin typeface="Calibri"/>
                <a:cs typeface="Calibri"/>
              </a:rPr>
              <a:t>h_core</a:t>
            </a:r>
            <a:r>
              <a:rPr lang="es-ES" sz="1400" spc="-10" noProof="0">
                <a:latin typeface="Calibri"/>
                <a:cs typeface="Calibri"/>
              </a:rPr>
              <a:t> </a:t>
            </a:r>
            <a:endParaRPr lang="es-ES" sz="1400" noProof="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s-ES" b="1" noProof="0" err="1"/>
              <a:t>shallow</a:t>
            </a:r>
            <a:r>
              <a:rPr lang="es-ES" noProof="0"/>
              <a:t> </a:t>
            </a:r>
            <a:r>
              <a:rPr lang="es-ES" noProof="0" err="1"/>
              <a:t>waveguide</a:t>
            </a:r>
            <a:endParaRPr lang="es-ES" noProof="0"/>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s-ES" b="1" noProof="0" err="1"/>
              <a:t>deep</a:t>
            </a:r>
            <a:r>
              <a:rPr lang="es-ES" noProof="0"/>
              <a:t> </a:t>
            </a:r>
            <a:r>
              <a:rPr lang="es-ES" noProof="0" err="1"/>
              <a:t>waveguide</a:t>
            </a:r>
            <a:endParaRPr lang="es-ES" noProof="0"/>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s-ES" sz="2500" noProof="0" err="1"/>
              <a:t>Learning</a:t>
            </a:r>
            <a:r>
              <a:rPr lang="es-ES" sz="2500" noProof="0"/>
              <a:t> </a:t>
            </a:r>
            <a:r>
              <a:rPr lang="es-ES" sz="2500" noProof="0" err="1"/>
              <a:t>outcome</a:t>
            </a:r>
            <a:r>
              <a:rPr lang="es-ES" sz="2500" noProof="0"/>
              <a:t> #1 – </a:t>
            </a:r>
            <a:r>
              <a:rPr lang="es-ES" sz="2500" noProof="0" err="1"/>
              <a:t>Effective</a:t>
            </a:r>
            <a:r>
              <a:rPr lang="es-ES" sz="2500" noProof="0"/>
              <a:t> </a:t>
            </a:r>
            <a:r>
              <a:rPr lang="es-ES" sz="2500" noProof="0" err="1"/>
              <a:t>index</a:t>
            </a:r>
            <a:r>
              <a:rPr lang="es-ES" sz="2500" noProof="0"/>
              <a:t> </a:t>
            </a:r>
            <a:r>
              <a:rPr lang="es-ES" sz="2500" noProof="0" err="1"/>
              <a:t>of</a:t>
            </a:r>
            <a:r>
              <a:rPr lang="es-ES" sz="2500" noProof="0"/>
              <a:t> a </a:t>
            </a:r>
            <a:r>
              <a:rPr lang="es-ES" sz="2500" noProof="0" err="1"/>
              <a:t>waveguide</a:t>
            </a:r>
            <a:br>
              <a:rPr lang="es-ES" sz="2500" spc="-5" noProof="0">
                <a:latin typeface="+mj-lt"/>
                <a:cs typeface="Lucida Sans"/>
              </a:rPr>
            </a:br>
            <a:endParaRPr lang="es-ES" sz="2500" b="0" noProof="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noProof="0" smtClean="0"/>
              <a:t>3</a:t>
            </a:fld>
            <a:endParaRPr lang="es-ES" noProof="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noProof="0"/>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sz="2000" b="1" noProof="0"/>
              <a:t>INSTRUCTOR:</a:t>
            </a:r>
          </a:p>
          <a:p>
            <a:pPr marL="342900" indent="-342900" algn="just">
              <a:buFont typeface="Arial" panose="020B0604020202020204" pitchFamily="34" charset="0"/>
              <a:buChar char="•"/>
            </a:pPr>
            <a:r>
              <a:rPr lang="es-ES" sz="2000" noProof="0" err="1"/>
              <a:t>Present</a:t>
            </a:r>
            <a:r>
              <a:rPr lang="es-ES" sz="2000" noProof="0"/>
              <a:t> Python and </a:t>
            </a:r>
            <a:r>
              <a:rPr lang="es-ES" sz="2000" noProof="0" err="1"/>
              <a:t>GDSFactory</a:t>
            </a:r>
            <a:r>
              <a:rPr lang="es-ES" sz="2000" noProof="0"/>
              <a:t>: </a:t>
            </a:r>
            <a:r>
              <a:rPr lang="es-ES" sz="2000" noProof="0" err="1"/>
              <a:t>materials</a:t>
            </a:r>
            <a:r>
              <a:rPr lang="es-ES" sz="2000" noProof="0"/>
              <a:t>, output, </a:t>
            </a:r>
            <a:r>
              <a:rPr lang="es-ES" sz="2000" noProof="0" err="1"/>
              <a:t>results</a:t>
            </a:r>
            <a:r>
              <a:rPr lang="es-ES" sz="2000" noProof="0"/>
              <a:t>.</a:t>
            </a:r>
          </a:p>
          <a:p>
            <a:pPr marL="342900" indent="-342900" algn="just">
              <a:buFont typeface="Arial" panose="020B0604020202020204" pitchFamily="34" charset="0"/>
              <a:buChar char="•"/>
            </a:pPr>
            <a:r>
              <a:rPr lang="es-ES" sz="2000" noProof="0" err="1"/>
              <a:t>Explain</a:t>
            </a:r>
            <a:r>
              <a:rPr lang="es-ES" sz="2000" noProof="0"/>
              <a:t> </a:t>
            </a:r>
            <a:r>
              <a:rPr lang="es-ES" sz="2000" noProof="0" err="1"/>
              <a:t>how</a:t>
            </a:r>
            <a:r>
              <a:rPr lang="es-ES" sz="2000" noProof="0"/>
              <a:t> </a:t>
            </a:r>
            <a:r>
              <a:rPr lang="es-ES" sz="2000" noProof="0" err="1"/>
              <a:t>to</a:t>
            </a:r>
            <a:r>
              <a:rPr lang="es-ES" sz="2000" noProof="0"/>
              <a:t> run a </a:t>
            </a:r>
            <a:r>
              <a:rPr lang="es-ES" sz="2000" noProof="0" err="1"/>
              <a:t>simulation</a:t>
            </a:r>
            <a:r>
              <a:rPr lang="es-ES" sz="2000" noProof="0"/>
              <a:t> </a:t>
            </a:r>
            <a:r>
              <a:rPr lang="es-ES" sz="2000" noProof="0" err="1"/>
              <a:t>for</a:t>
            </a:r>
            <a:r>
              <a:rPr lang="es-ES" sz="2000" noProof="0"/>
              <a:t> a particular </a:t>
            </a:r>
            <a:r>
              <a:rPr lang="es-ES" sz="2000" noProof="0" err="1"/>
              <a:t>cross-section</a:t>
            </a:r>
            <a:r>
              <a:rPr lang="es-ES" sz="2000" noProof="0"/>
              <a:t>. </a:t>
            </a:r>
          </a:p>
          <a:p>
            <a:pPr marL="342900" indent="-342900" algn="just">
              <a:buFont typeface="Arial" panose="020B0604020202020204" pitchFamily="34" charset="0"/>
              <a:buChar char="•"/>
            </a:pPr>
            <a:r>
              <a:rPr lang="es-ES" sz="2000" noProof="0" err="1"/>
              <a:t>Showcase</a:t>
            </a:r>
            <a:r>
              <a:rPr lang="es-ES" sz="2000" noProof="0"/>
              <a:t> </a:t>
            </a:r>
            <a:r>
              <a:rPr lang="es-ES" sz="2000" noProof="0" err="1"/>
              <a:t>how</a:t>
            </a:r>
            <a:r>
              <a:rPr lang="es-ES" sz="2000" noProof="0"/>
              <a:t> </a:t>
            </a:r>
            <a:r>
              <a:rPr lang="es-ES" sz="2000" noProof="0" err="1"/>
              <a:t>to</a:t>
            </a:r>
            <a:r>
              <a:rPr lang="es-ES" sz="2000" noProof="0"/>
              <a:t> </a:t>
            </a:r>
            <a:r>
              <a:rPr lang="es-ES" sz="2000" noProof="0" err="1"/>
              <a:t>change</a:t>
            </a:r>
            <a:r>
              <a:rPr lang="es-ES" sz="2000" noProof="0"/>
              <a:t> </a:t>
            </a:r>
            <a:r>
              <a:rPr lang="es-ES" sz="2000" noProof="0" err="1"/>
              <a:t>between</a:t>
            </a:r>
            <a:r>
              <a:rPr lang="es-ES" sz="2000" noProof="0"/>
              <a:t> </a:t>
            </a:r>
            <a:r>
              <a:rPr lang="es-ES" sz="2000" noProof="0" err="1"/>
              <a:t>shallow</a:t>
            </a:r>
            <a:r>
              <a:rPr lang="es-ES" sz="2000" noProof="0"/>
              <a:t> and </a:t>
            </a:r>
            <a:r>
              <a:rPr lang="es-ES" sz="2000" noProof="0" err="1"/>
              <a:t>deep</a:t>
            </a:r>
            <a:r>
              <a:rPr lang="es-ES" sz="2000" noProof="0"/>
              <a:t> </a:t>
            </a:r>
            <a:r>
              <a:rPr lang="es-ES" sz="2000" noProof="0" err="1"/>
              <a:t>waveguide</a:t>
            </a:r>
            <a:r>
              <a:rPr lang="es-ES" sz="2000" noProof="0"/>
              <a:t>.</a:t>
            </a:r>
          </a:p>
          <a:p>
            <a:pPr marL="342900" indent="-342900" algn="just">
              <a:buFont typeface="Arial" panose="020B0604020202020204" pitchFamily="34" charset="0"/>
              <a:buChar char="•"/>
            </a:pPr>
            <a:r>
              <a:rPr lang="es-ES" sz="2000" noProof="0"/>
              <a:t>Describe </a:t>
            </a:r>
            <a:r>
              <a:rPr lang="es-ES" sz="2000" noProof="0" err="1"/>
              <a:t>how</a:t>
            </a:r>
            <a:r>
              <a:rPr lang="es-ES" sz="2000" noProof="0"/>
              <a:t> </a:t>
            </a:r>
            <a:r>
              <a:rPr lang="es-ES" sz="2000" noProof="0" err="1"/>
              <a:t>to</a:t>
            </a:r>
            <a:r>
              <a:rPr lang="es-ES" sz="2000" noProof="0"/>
              <a:t> </a:t>
            </a:r>
            <a:r>
              <a:rPr lang="es-ES" sz="2000" noProof="0" err="1"/>
              <a:t>change</a:t>
            </a:r>
            <a:r>
              <a:rPr lang="es-ES" sz="2000" noProof="0"/>
              <a:t> </a:t>
            </a:r>
            <a:r>
              <a:rPr lang="es-ES" sz="2000" noProof="0" err="1"/>
              <a:t>the</a:t>
            </a:r>
            <a:r>
              <a:rPr lang="es-ES" sz="2000" noProof="0"/>
              <a:t> </a:t>
            </a:r>
            <a:r>
              <a:rPr lang="es-ES" sz="2000" noProof="0" err="1"/>
              <a:t>wavelength</a:t>
            </a:r>
            <a:r>
              <a:rPr lang="es-ES" sz="2000" noProof="0"/>
              <a:t> and </a:t>
            </a:r>
            <a:r>
              <a:rPr lang="es-ES" sz="2000" noProof="0" err="1"/>
              <a:t>width</a:t>
            </a:r>
            <a:r>
              <a:rPr lang="es-ES" sz="2000" noProof="0"/>
              <a:t> </a:t>
            </a:r>
            <a:r>
              <a:rPr lang="es-ES" sz="2000" noProof="0" err="1"/>
              <a:t>for</a:t>
            </a:r>
            <a:r>
              <a:rPr lang="es-ES" sz="2000" noProof="0"/>
              <a:t> </a:t>
            </a:r>
            <a:r>
              <a:rPr lang="es-ES" sz="2000" noProof="0" err="1"/>
              <a:t>the</a:t>
            </a:r>
            <a:r>
              <a:rPr lang="es-ES" sz="2000" noProof="0"/>
              <a:t> </a:t>
            </a:r>
            <a:r>
              <a:rPr lang="es-ES" sz="2000" noProof="0" err="1"/>
              <a:t>waveguide</a:t>
            </a:r>
            <a:r>
              <a:rPr lang="es-ES" sz="2000" noProof="0"/>
              <a:t> </a:t>
            </a:r>
            <a:r>
              <a:rPr lang="es-ES" sz="2000" noProof="0" err="1"/>
              <a:t>analysis</a:t>
            </a:r>
            <a:r>
              <a:rPr lang="es-ES" sz="2000" noProof="0"/>
              <a:t>.</a:t>
            </a:r>
          </a:p>
          <a:p>
            <a:pPr marL="342900" indent="-342900" algn="just">
              <a:buFont typeface="Arial" panose="020B0604020202020204" pitchFamily="34" charset="0"/>
              <a:buChar char="•"/>
            </a:pPr>
            <a:r>
              <a:rPr lang="es-ES" sz="2000" noProof="0"/>
              <a:t>Describe </a:t>
            </a:r>
            <a:r>
              <a:rPr lang="es-ES" sz="2000" noProof="0" err="1"/>
              <a:t>the</a:t>
            </a:r>
            <a:r>
              <a:rPr lang="es-ES" sz="2000" noProof="0"/>
              <a:t> outputs.</a:t>
            </a:r>
          </a:p>
          <a:p>
            <a:pPr marL="0" indent="0" algn="just">
              <a:buNone/>
            </a:pPr>
            <a:r>
              <a:rPr lang="es-ES" sz="2000" b="1" noProof="0"/>
              <a:t>ALL EXAMPLE #1: </a:t>
            </a:r>
            <a:r>
              <a:rPr lang="es-ES" sz="2000" noProof="0" err="1"/>
              <a:t>waveguide</a:t>
            </a:r>
            <a:r>
              <a:rPr lang="es-ES" sz="2000" noProof="0"/>
              <a:t> </a:t>
            </a:r>
            <a:r>
              <a:rPr lang="es-ES" sz="2000" noProof="0" err="1"/>
              <a:t>width</a:t>
            </a:r>
            <a:r>
              <a:rPr lang="es-ES" sz="2000" noProof="0"/>
              <a:t> 1.2 µm, </a:t>
            </a:r>
            <a:r>
              <a:rPr lang="es-ES" sz="2000" noProof="0" err="1"/>
              <a:t>deep</a:t>
            </a:r>
            <a:r>
              <a:rPr lang="es-ES" sz="2000" noProof="0"/>
              <a:t> </a:t>
            </a:r>
            <a:r>
              <a:rPr lang="es-ES" sz="2000" noProof="0" err="1"/>
              <a:t>wvg</a:t>
            </a:r>
            <a:r>
              <a:rPr lang="es-ES" sz="2000" noProof="0"/>
              <a:t>, </a:t>
            </a:r>
            <a:r>
              <a:rPr lang="es-ES" sz="2000" noProof="0" err="1"/>
              <a:t>wavelength</a:t>
            </a:r>
            <a:r>
              <a:rPr lang="es-ES" sz="2000" noProof="0"/>
              <a:t> </a:t>
            </a:r>
            <a:r>
              <a:rPr lang="es-ES" sz="2000" noProof="0" err="1"/>
              <a:t>start</a:t>
            </a:r>
            <a:r>
              <a:rPr lang="es-ES" sz="2000" noProof="0"/>
              <a:t> and </a:t>
            </a:r>
            <a:r>
              <a:rPr lang="es-ES" sz="2000" noProof="0" err="1"/>
              <a:t>end</a:t>
            </a:r>
            <a:r>
              <a:rPr lang="es-ES" sz="2000" noProof="0"/>
              <a:t> </a:t>
            </a:r>
            <a:r>
              <a:rPr lang="es-ES" sz="2000" noProof="0" err="1"/>
              <a:t>same</a:t>
            </a:r>
            <a:r>
              <a:rPr lang="es-ES" sz="2000" noProof="0"/>
              <a:t> 1.55 µm </a:t>
            </a:r>
            <a:r>
              <a:rPr lang="es-ES" sz="2000" noProof="0">
                <a:sym typeface="Wingdings" pitchFamily="2" charset="2"/>
              </a:rPr>
              <a:t> </a:t>
            </a:r>
            <a:r>
              <a:rPr lang="es-ES" sz="2000" noProof="0" err="1">
                <a:sym typeface="Wingdings" pitchFamily="2" charset="2"/>
              </a:rPr>
              <a:t>all</a:t>
            </a:r>
            <a:r>
              <a:rPr lang="es-ES" sz="2000" noProof="0">
                <a:sym typeface="Wingdings" pitchFamily="2" charset="2"/>
              </a:rPr>
              <a:t> ”Run”</a:t>
            </a:r>
            <a:endParaRPr lang="es-ES" sz="2000" noProof="0"/>
          </a:p>
          <a:p>
            <a:pPr marL="0" indent="0" algn="just">
              <a:buNone/>
            </a:pPr>
            <a:r>
              <a:rPr lang="es-ES" sz="2000" b="1" noProof="0"/>
              <a:t>ALL: </a:t>
            </a:r>
            <a:r>
              <a:rPr lang="es-ES" sz="2000" noProof="0" err="1"/>
              <a:t>Follow</a:t>
            </a:r>
            <a:r>
              <a:rPr lang="es-ES" sz="2000" b="1" noProof="0"/>
              <a:t> </a:t>
            </a:r>
            <a:r>
              <a:rPr lang="es-ES" sz="2000" noProof="0"/>
              <a:t>instructor, </a:t>
            </a:r>
            <a:r>
              <a:rPr lang="es-ES" sz="2000" noProof="0" err="1"/>
              <a:t>that</a:t>
            </a:r>
            <a:r>
              <a:rPr lang="es-ES" sz="2000" noProof="0"/>
              <a:t> </a:t>
            </a:r>
            <a:r>
              <a:rPr lang="es-ES" sz="2000" noProof="0" err="1"/>
              <a:t>will</a:t>
            </a:r>
            <a:r>
              <a:rPr lang="es-ES" sz="2000" noProof="0"/>
              <a:t> show </a:t>
            </a:r>
            <a:r>
              <a:rPr lang="es-ES" sz="2000" noProof="0" err="1"/>
              <a:t>how</a:t>
            </a:r>
            <a:r>
              <a:rPr lang="es-ES" sz="2000" noProof="0"/>
              <a:t> </a:t>
            </a:r>
            <a:r>
              <a:rPr lang="es-ES" sz="2000" noProof="0" err="1"/>
              <a:t>to</a:t>
            </a:r>
            <a:r>
              <a:rPr lang="es-ES" sz="2000" noProof="0"/>
              <a:t> 1) </a:t>
            </a:r>
            <a:r>
              <a:rPr lang="es-ES" sz="2000" noProof="0" err="1"/>
              <a:t>plot</a:t>
            </a:r>
            <a:r>
              <a:rPr lang="es-ES" sz="2000" noProof="0"/>
              <a:t> </a:t>
            </a:r>
            <a:r>
              <a:rPr lang="es-ES" sz="2000" noProof="0" err="1"/>
              <a:t>mode</a:t>
            </a:r>
            <a:r>
              <a:rPr lang="es-ES" sz="2000" noProof="0"/>
              <a:t>, 2) explore </a:t>
            </a:r>
            <a:r>
              <a:rPr lang="es-ES" sz="2000" noProof="0" err="1"/>
              <a:t>the</a:t>
            </a:r>
            <a:r>
              <a:rPr lang="es-ES" sz="2000" noProof="0"/>
              <a:t> </a:t>
            </a:r>
            <a:r>
              <a:rPr lang="es-ES" sz="2000" noProof="0" err="1"/>
              <a:t>results</a:t>
            </a:r>
            <a:r>
              <a:rPr lang="es-ES" sz="2000" noProof="0"/>
              <a:t> (</a:t>
            </a:r>
            <a:r>
              <a:rPr lang="es-ES" sz="2000" noProof="0" err="1"/>
              <a:t>neff</a:t>
            </a:r>
            <a:r>
              <a:rPr lang="es-ES" sz="2000" noProof="0"/>
              <a:t> …)</a:t>
            </a:r>
          </a:p>
          <a:p>
            <a:pPr algn="just"/>
            <a:endParaRPr lang="es-ES" sz="2000" b="1" i="1" noProof="0"/>
          </a:p>
          <a:p>
            <a:pPr algn="just"/>
            <a:endParaRPr lang="es-ES" sz="2000" kern="0" noProof="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532525" y="4369733"/>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i="1" noProof="0">
                <a:latin typeface="Arial" panose="020B0604020202020204" pitchFamily="34" charset="0"/>
                <a:cs typeface="Arial" panose="020B0604020202020204" pitchFamily="34" charset="0"/>
              </a:rPr>
              <a:t>La explicación se inicia en la siguiente diapositiva.</a:t>
            </a: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DFAAF8A9-239D-0F82-988A-F22FF1AD43E4}"/>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D0438FAC-7FB8-0F4C-CD3A-7A2FF806DC73}"/>
              </a:ext>
            </a:extLst>
          </p:cNvPr>
          <p:cNvSpPr>
            <a:spLocks noGrp="1"/>
          </p:cNvSpPr>
          <p:nvPr>
            <p:ph type="sldNum" sz="quarter" idx="7"/>
          </p:nvPr>
        </p:nvSpPr>
        <p:spPr/>
        <p:txBody>
          <a:bodyPr/>
          <a:lstStyle/>
          <a:p>
            <a:fld id="{B6F15528-21DE-4FAA-801E-634DDDAF4B2B}" type="slidenum">
              <a:rPr lang="es-ES" noProof="0" smtClean="0"/>
              <a:t>4</a:t>
            </a:fld>
            <a:endParaRPr lang="es-ES" noProof="0"/>
          </a:p>
        </p:txBody>
      </p:sp>
      <p:sp>
        <p:nvSpPr>
          <p:cNvPr id="8" name="Rectángulo 7">
            <a:extLst>
              <a:ext uri="{FF2B5EF4-FFF2-40B4-BE49-F238E27FC236}">
                <a16:creationId xmlns:a16="http://schemas.microsoft.com/office/drawing/2014/main" id="{14FEB6C3-6652-8334-9D74-66F8EDC588D9}"/>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870B9EA3-D75E-0BE5-4BBA-BBE1CA301D8E}"/>
              </a:ext>
            </a:extLst>
          </p:cNvPr>
          <p:cNvSpPr txBox="1"/>
          <p:nvPr/>
        </p:nvSpPr>
        <p:spPr>
          <a:xfrm>
            <a:off x="1143000" y="1004835"/>
            <a:ext cx="579129" cy="369332"/>
          </a:xfrm>
          <a:prstGeom prst="rect">
            <a:avLst/>
          </a:prstGeom>
          <a:noFill/>
        </p:spPr>
        <p:txBody>
          <a:bodyPr wrap="square" rtlCol="0">
            <a:spAutoFit/>
          </a:bodyPr>
          <a:lstStyle/>
          <a:p>
            <a:endParaRPr lang="es-ES" noProof="0"/>
          </a:p>
        </p:txBody>
      </p:sp>
      <p:sp>
        <p:nvSpPr>
          <p:cNvPr id="11" name="CuadroTexto 10">
            <a:extLst>
              <a:ext uri="{FF2B5EF4-FFF2-40B4-BE49-F238E27FC236}">
                <a16:creationId xmlns:a16="http://schemas.microsoft.com/office/drawing/2014/main" id="{337B2106-CA7D-DFD4-3DFE-18F6B6B8B01E}"/>
              </a:ext>
            </a:extLst>
          </p:cNvPr>
          <p:cNvSpPr txBox="1"/>
          <p:nvPr/>
        </p:nvSpPr>
        <p:spPr>
          <a:xfrm>
            <a:off x="838200" y="838200"/>
            <a:ext cx="10744359" cy="2492990"/>
          </a:xfrm>
          <a:prstGeom prst="rect">
            <a:avLst/>
          </a:prstGeom>
          <a:noFill/>
        </p:spPr>
        <p:txBody>
          <a:bodyPr wrap="square">
            <a:spAutoFit/>
          </a:bodyPr>
          <a:lstStyle/>
          <a:p>
            <a:pPr marL="171450" indent="-171450" algn="just">
              <a:buFont typeface="Arial" panose="020B0604020202020204" pitchFamily="34" charset="0"/>
              <a:buChar char="•"/>
            </a:pPr>
            <a:r>
              <a:rPr lang="en-US" sz="1200" b="1">
                <a:latin typeface="Arial" panose="020B0604020202020204" pitchFamily="34" charset="0"/>
                <a:cs typeface="Arial" panose="020B0604020202020204" pitchFamily="34" charset="0"/>
              </a:rPr>
              <a:t>Present Python and </a:t>
            </a:r>
            <a:r>
              <a:rPr lang="en-US" sz="1200" b="1" err="1">
                <a:latin typeface="Arial" panose="020B0604020202020204" pitchFamily="34" charset="0"/>
                <a:cs typeface="Arial" panose="020B0604020202020204" pitchFamily="34" charset="0"/>
              </a:rPr>
              <a:t>GDSFactory</a:t>
            </a:r>
            <a:r>
              <a:rPr lang="en-US" sz="1200" b="1">
                <a:latin typeface="Arial" panose="020B0604020202020204" pitchFamily="34" charset="0"/>
                <a:cs typeface="Arial" panose="020B0604020202020204" pitchFamily="34" charset="0"/>
              </a:rPr>
              <a:t>: materials, output, results.</a:t>
            </a:r>
          </a:p>
          <a:p>
            <a:pPr algn="just"/>
            <a:endParaRPr lang="en-US" sz="1200">
              <a:latin typeface="Arial" panose="020B0604020202020204" pitchFamily="34" charset="0"/>
              <a:cs typeface="Arial" panose="020B0604020202020204" pitchFamily="34" charset="0"/>
            </a:endParaRPr>
          </a:p>
          <a:p>
            <a:r>
              <a:rPr lang="en-US" sz="1200">
                <a:latin typeface="Arial" panose="020B0604020202020204" pitchFamily="34" charset="0"/>
                <a:cs typeface="Arial" panose="020B0604020202020204" pitchFamily="34" charset="0"/>
              </a:rPr>
              <a:t>Los </a:t>
            </a:r>
            <a:r>
              <a:rPr lang="en-US" sz="1200" err="1">
                <a:latin typeface="Arial" panose="020B0604020202020204" pitchFamily="34" charset="0"/>
                <a:cs typeface="Arial" panose="020B0604020202020204" pitchFamily="34" charset="0"/>
              </a:rPr>
              <a:t>materiales</a:t>
            </a:r>
            <a:r>
              <a:rPr lang="en-US" sz="1200">
                <a:latin typeface="Arial" panose="020B0604020202020204" pitchFamily="34" charset="0"/>
                <a:cs typeface="Arial" panose="020B0604020202020204" pitchFamily="34" charset="0"/>
              </a:rPr>
              <a:t> que se </a:t>
            </a:r>
            <a:r>
              <a:rPr lang="en-US" sz="1200" err="1">
                <a:latin typeface="Arial" panose="020B0604020202020204" pitchFamily="34" charset="0"/>
                <a:cs typeface="Arial" panose="020B0604020202020204" pitchFamily="34" charset="0"/>
              </a:rPr>
              <a:t>usarán</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diseño</a:t>
            </a:r>
            <a:r>
              <a:rPr lang="en-US" sz="1200">
                <a:latin typeface="Arial" panose="020B0604020202020204" pitchFamily="34" charset="0"/>
                <a:cs typeface="Arial" panose="020B0604020202020204" pitchFamily="34" charset="0"/>
              </a:rPr>
              <a:t> de las </a:t>
            </a:r>
            <a:r>
              <a:rPr lang="en-US" sz="1200" err="1">
                <a:latin typeface="Arial" panose="020B0604020202020204" pitchFamily="34" charset="0"/>
                <a:cs typeface="Arial" panose="020B0604020202020204" pitchFamily="34" charset="0"/>
              </a:rPr>
              <a:t>guías</a:t>
            </a:r>
            <a:r>
              <a:rPr lang="en-US" sz="1200">
                <a:latin typeface="Arial" panose="020B0604020202020204" pitchFamily="34" charset="0"/>
                <a:cs typeface="Arial" panose="020B0604020202020204" pitchFamily="34" charset="0"/>
              </a:rPr>
              <a:t> son: </a:t>
            </a:r>
            <a:r>
              <a:rPr lang="es-ES" sz="1200" b="1"/>
              <a:t>Silicon (Si):</a:t>
            </a:r>
            <a:r>
              <a:rPr lang="es-ES" sz="1200"/>
              <a:t> Silicio, </a:t>
            </a:r>
            <a:r>
              <a:rPr lang="es-ES" sz="1200" b="1"/>
              <a:t>Silicon </a:t>
            </a:r>
            <a:r>
              <a:rPr lang="es-ES" sz="1200" b="1" err="1"/>
              <a:t>nitride</a:t>
            </a:r>
            <a:r>
              <a:rPr lang="es-ES" sz="1200" b="1"/>
              <a:t> (</a:t>
            </a:r>
            <a:r>
              <a:rPr lang="es-ES" sz="1200" b="1" err="1">
                <a:effectLst/>
              </a:rPr>
              <a:t>S</a:t>
            </a:r>
            <a:r>
              <a:rPr lang="es-ES" sz="1200" b="1" err="1"/>
              <a:t>i</a:t>
            </a:r>
            <a:r>
              <a:rPr lang="es-ES" sz="1200" b="1" err="1">
                <a:effectLst/>
              </a:rPr>
              <a:t>Nx</a:t>
            </a:r>
            <a:r>
              <a:rPr lang="es-ES" sz="1200" b="1"/>
              <a:t>​):</a:t>
            </a:r>
            <a:r>
              <a:rPr lang="es-ES" sz="1200"/>
              <a:t> Nitruro de silicio, </a:t>
            </a:r>
            <a:r>
              <a:rPr lang="es-ES" sz="1200" b="1"/>
              <a:t>Silicon </a:t>
            </a:r>
            <a:r>
              <a:rPr lang="es-ES" sz="1200" b="1" err="1"/>
              <a:t>dioxide</a:t>
            </a:r>
            <a:r>
              <a:rPr lang="es-ES" sz="1200" b="1"/>
              <a:t> (</a:t>
            </a:r>
            <a:r>
              <a:rPr lang="es-ES" sz="1200" b="1">
                <a:effectLst/>
              </a:rPr>
              <a:t>S</a:t>
            </a:r>
            <a:r>
              <a:rPr lang="es-ES" sz="1200" b="1"/>
              <a:t>i</a:t>
            </a:r>
            <a:r>
              <a:rPr lang="es-ES" sz="1200" b="1">
                <a:effectLst/>
              </a:rPr>
              <a:t>O2</a:t>
            </a:r>
            <a:r>
              <a:rPr lang="es-ES" sz="1200" b="1"/>
              <a:t>​):</a:t>
            </a:r>
            <a:r>
              <a:rPr lang="es-ES" sz="1200"/>
              <a:t> Dióxido de silicio</a:t>
            </a:r>
          </a:p>
          <a:p>
            <a:r>
              <a:rPr lang="es-ES" sz="1200"/>
              <a:t>Estos tienen unos índices 3.48, 2, 1.45 respectivamente.</a:t>
            </a:r>
          </a:p>
          <a:p>
            <a:endParaRPr lang="es-ES" sz="1200"/>
          </a:p>
          <a:p>
            <a:pPr marL="171450" indent="-171450">
              <a:buFont typeface="Arial" panose="020B0604020202020204" pitchFamily="34" charset="0"/>
              <a:buChar char="•"/>
            </a:pPr>
            <a:r>
              <a:rPr lang="es-ES" sz="1200" b="1" noProof="0" err="1">
                <a:latin typeface="Arial" panose="020B0604020202020204" pitchFamily="34" charset="0"/>
                <a:cs typeface="Arial" panose="020B0604020202020204" pitchFamily="34" charset="0"/>
              </a:rPr>
              <a:t>Explain</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how</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to</a:t>
            </a:r>
            <a:r>
              <a:rPr lang="es-ES" sz="1200" b="1" noProof="0">
                <a:latin typeface="Arial" panose="020B0604020202020204" pitchFamily="34" charset="0"/>
                <a:cs typeface="Arial" panose="020B0604020202020204" pitchFamily="34" charset="0"/>
              </a:rPr>
              <a:t> run a </a:t>
            </a:r>
            <a:r>
              <a:rPr lang="es-ES" sz="1200" b="1" noProof="0" err="1">
                <a:latin typeface="Arial" panose="020B0604020202020204" pitchFamily="34" charset="0"/>
                <a:cs typeface="Arial" panose="020B0604020202020204" pitchFamily="34" charset="0"/>
              </a:rPr>
              <a:t>simulation</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for</a:t>
            </a:r>
            <a:r>
              <a:rPr lang="es-ES" sz="1200" b="1" noProof="0">
                <a:latin typeface="Arial" panose="020B0604020202020204" pitchFamily="34" charset="0"/>
                <a:cs typeface="Arial" panose="020B0604020202020204" pitchFamily="34" charset="0"/>
              </a:rPr>
              <a:t> a particular </a:t>
            </a:r>
            <a:r>
              <a:rPr lang="es-ES" sz="1200" b="1" noProof="0" err="1">
                <a:latin typeface="Arial" panose="020B0604020202020204" pitchFamily="34" charset="0"/>
                <a:cs typeface="Arial" panose="020B0604020202020204" pitchFamily="34" charset="0"/>
              </a:rPr>
              <a:t>cross-section</a:t>
            </a:r>
            <a:r>
              <a:rPr lang="es-ES" sz="1200" b="1" noProof="0">
                <a:latin typeface="Arial" panose="020B0604020202020204" pitchFamily="34" charset="0"/>
                <a:cs typeface="Arial" panose="020B0604020202020204" pitchFamily="34" charset="0"/>
              </a:rPr>
              <a:t>. </a:t>
            </a:r>
          </a:p>
          <a:p>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Para </a:t>
            </a:r>
            <a:r>
              <a:rPr lang="en-US" sz="1200" err="1">
                <a:latin typeface="Arial" panose="020B0604020202020204" pitchFamily="34" charset="0"/>
                <a:cs typeface="Arial" panose="020B0604020202020204" pitchFamily="34" charset="0"/>
              </a:rPr>
              <a:t>ejecutar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simulación</a:t>
            </a:r>
            <a:r>
              <a:rPr lang="en-US" sz="1200">
                <a:latin typeface="Arial" panose="020B0604020202020204" pitchFamily="34" charset="0"/>
                <a:cs typeface="Arial" panose="020B0604020202020204" pitchFamily="34" charset="0"/>
              </a:rPr>
              <a:t> cross-section </a:t>
            </a:r>
            <a:r>
              <a:rPr lang="en-US" sz="1200" err="1">
                <a:latin typeface="Arial" panose="020B0604020202020204" pitchFamily="34" charset="0"/>
                <a:cs typeface="Arial" panose="020B0604020202020204" pitchFamily="34" charset="0"/>
              </a:rPr>
              <a:t>usaremos</a:t>
            </a:r>
            <a:r>
              <a:rPr lang="en-US" sz="1200">
                <a:latin typeface="Arial" panose="020B0604020202020204" pitchFamily="34" charset="0"/>
                <a:cs typeface="Arial" panose="020B0604020202020204" pitchFamily="34" charset="0"/>
              </a:rPr>
              <a:t> para </a:t>
            </a:r>
            <a:r>
              <a:rPr lang="en-US" sz="1200" err="1">
                <a:latin typeface="Arial" panose="020B0604020202020204" pitchFamily="34" charset="0"/>
                <a:cs typeface="Arial" panose="020B0604020202020204" pitchFamily="34" charset="0"/>
              </a:rPr>
              <a:t>definirla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módulo</a:t>
            </a:r>
            <a:r>
              <a:rPr lang="en-US" sz="1200">
                <a:latin typeface="Arial" panose="020B0604020202020204" pitchFamily="34" charset="0"/>
                <a:cs typeface="Arial" panose="020B0604020202020204" pitchFamily="34" charset="0"/>
              </a:rPr>
              <a:t> </a:t>
            </a:r>
            <a:r>
              <a:rPr lang="en-US" sz="1200" i="1" err="1">
                <a:latin typeface="Arial" panose="020B0604020202020204" pitchFamily="34" charset="0"/>
                <a:cs typeface="Arial" panose="020B0604020202020204" pitchFamily="34" charset="0"/>
              </a:rPr>
              <a:t>gt.modes.Waveguide</a:t>
            </a:r>
            <a:r>
              <a:rPr lang="en-US" sz="1200" i="1">
                <a:latin typeface="Arial" panose="020B0604020202020204" pitchFamily="34" charset="0"/>
                <a:cs typeface="Arial" panose="020B0604020202020204" pitchFamily="34" charset="0"/>
              </a:rPr>
              <a:t>(). </a:t>
            </a:r>
          </a:p>
          <a:p>
            <a:pPr algn="just"/>
            <a:endParaRPr lang="en-US" sz="1200" i="1">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s-ES" sz="1200" b="1" noProof="0" err="1">
                <a:latin typeface="Arial" panose="020B0604020202020204" pitchFamily="34" charset="0"/>
                <a:cs typeface="Arial" panose="020B0604020202020204" pitchFamily="34" charset="0"/>
              </a:rPr>
              <a:t>Showcase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how</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to</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change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between</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shallow</a:t>
            </a:r>
            <a:r>
              <a:rPr lang="es-ES" sz="1200" b="1" noProof="0">
                <a:latin typeface="Arial" panose="020B0604020202020204" pitchFamily="34" charset="0"/>
                <a:cs typeface="Arial" panose="020B0604020202020204" pitchFamily="34" charset="0"/>
              </a:rPr>
              <a:t> and </a:t>
            </a:r>
            <a:r>
              <a:rPr lang="es-ES" sz="1200" b="1" noProof="0" err="1">
                <a:latin typeface="Arial" panose="020B0604020202020204" pitchFamily="34" charset="0"/>
                <a:cs typeface="Arial" panose="020B0604020202020204" pitchFamily="34" charset="0"/>
              </a:rPr>
              <a:t>deep</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waveguide</a:t>
            </a:r>
            <a:r>
              <a:rPr lang="es-ES" sz="1200" b="1" noProof="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Para </a:t>
            </a:r>
            <a:r>
              <a:rPr lang="en-US" sz="1200" err="1">
                <a:latin typeface="Arial" panose="020B0604020202020204" pitchFamily="34" charset="0"/>
                <a:cs typeface="Arial" panose="020B0604020202020204" pitchFamily="34" charset="0"/>
              </a:rPr>
              <a:t>cambiar</a:t>
            </a:r>
            <a:r>
              <a:rPr lang="en-US" sz="1200">
                <a:latin typeface="Arial" panose="020B0604020202020204" pitchFamily="34" charset="0"/>
                <a:cs typeface="Arial" panose="020B0604020202020204" pitchFamily="34" charset="0"/>
              </a:rPr>
              <a:t> entre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guía</a:t>
            </a:r>
            <a:r>
              <a:rPr lang="en-US" sz="1200">
                <a:latin typeface="Arial" panose="020B0604020202020204" pitchFamily="34" charset="0"/>
                <a:cs typeface="Arial" panose="020B0604020202020204" pitchFamily="34" charset="0"/>
              </a:rPr>
              <a:t> shallow y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deep waveguide </a:t>
            </a:r>
            <a:r>
              <a:rPr lang="en-US" sz="1200" err="1">
                <a:latin typeface="Arial" panose="020B0604020202020204" pitchFamily="34" charset="0"/>
                <a:cs typeface="Arial" panose="020B0604020202020204" pitchFamily="34" charset="0"/>
              </a:rPr>
              <a:t>ajustamos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parámetro</a:t>
            </a:r>
            <a:r>
              <a:rPr lang="en-US" sz="1200">
                <a:latin typeface="Arial" panose="020B0604020202020204" pitchFamily="34" charset="0"/>
                <a:cs typeface="Arial" panose="020B0604020202020204" pitchFamily="34" charset="0"/>
              </a:rPr>
              <a:t> </a:t>
            </a:r>
            <a:r>
              <a:rPr lang="en-US" sz="1200" i="1" err="1">
                <a:latin typeface="Arial" panose="020B0604020202020204" pitchFamily="34" charset="0"/>
                <a:cs typeface="Arial" panose="020B0604020202020204" pitchFamily="34" charset="0"/>
              </a:rPr>
              <a:t>slab_thicknes</a:t>
            </a:r>
            <a:r>
              <a:rPr lang="en-US" sz="1200" i="1">
                <a:latin typeface="Arial" panose="020B0604020202020204" pitchFamily="34" charset="0"/>
                <a:cs typeface="Arial" panose="020B0604020202020204" pitchFamily="34" charset="0"/>
              </a:rPr>
              <a:t>. </a:t>
            </a:r>
            <a:r>
              <a:rPr lang="en-US" sz="1200">
                <a:latin typeface="Arial" panose="020B0604020202020204" pitchFamily="34" charset="0"/>
                <a:cs typeface="Arial" panose="020B0604020202020204" pitchFamily="34" charset="0"/>
              </a:rPr>
              <a:t>Si es 0 se </a:t>
            </a:r>
            <a:r>
              <a:rPr lang="en-US" sz="1200" err="1">
                <a:latin typeface="Arial" panose="020B0604020202020204" pitchFamily="34" charset="0"/>
                <a:cs typeface="Arial" panose="020B0604020202020204" pitchFamily="34" charset="0"/>
              </a:rPr>
              <a:t>tratará</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una</a:t>
            </a:r>
            <a:r>
              <a:rPr lang="en-US" sz="1200">
                <a:latin typeface="Arial" panose="020B0604020202020204" pitchFamily="34" charset="0"/>
                <a:cs typeface="Arial" panose="020B0604020202020204" pitchFamily="34" charset="0"/>
              </a:rPr>
              <a:t> deep</a:t>
            </a:r>
          </a:p>
          <a:p>
            <a:pPr algn="just"/>
            <a:endParaRPr lang="en-US" sz="1200">
              <a:latin typeface="Arial" panose="020B0604020202020204" pitchFamily="34" charset="0"/>
              <a:cs typeface="Arial" panose="020B0604020202020204" pitchFamily="34" charset="0"/>
            </a:endParaRPr>
          </a:p>
        </p:txBody>
      </p:sp>
      <p:pic>
        <p:nvPicPr>
          <p:cNvPr id="12" name="Imagen 11">
            <a:extLst>
              <a:ext uri="{FF2B5EF4-FFF2-40B4-BE49-F238E27FC236}">
                <a16:creationId xmlns:a16="http://schemas.microsoft.com/office/drawing/2014/main" id="{9C372B8B-1678-6104-2638-F4C7B8BFE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3600" y="2888232"/>
            <a:ext cx="1676487" cy="209561"/>
          </a:xfrm>
          <a:prstGeom prst="rect">
            <a:avLst/>
          </a:prstGeom>
        </p:spPr>
      </p:pic>
      <p:pic>
        <p:nvPicPr>
          <p:cNvPr id="13" name="Imagen 12" descr="Diagrama, Esquemático&#10;&#10;Descripción generada automáticamente">
            <a:extLst>
              <a:ext uri="{FF2B5EF4-FFF2-40B4-BE49-F238E27FC236}">
                <a16:creationId xmlns:a16="http://schemas.microsoft.com/office/drawing/2014/main" id="{64EC14B2-D3E0-EC46-1B3C-99B19959DF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7994" y="3200400"/>
            <a:ext cx="2536012" cy="2404643"/>
          </a:xfrm>
          <a:prstGeom prst="rect">
            <a:avLst/>
          </a:prstGeom>
        </p:spPr>
      </p:pic>
    </p:spTree>
    <p:extLst>
      <p:ext uri="{BB962C8B-B14F-4D97-AF65-F5344CB8AC3E}">
        <p14:creationId xmlns:p14="http://schemas.microsoft.com/office/powerpoint/2010/main" val="1019874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87943-60FD-0CA6-FD95-7E8A65D15D9C}"/>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F65A7CBE-76DC-9B86-7667-BEA88642FEF1}"/>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EB7CA0FF-77EE-FE56-77F6-D2EF54556000}"/>
              </a:ext>
            </a:extLst>
          </p:cNvPr>
          <p:cNvSpPr>
            <a:spLocks noGrp="1"/>
          </p:cNvSpPr>
          <p:nvPr>
            <p:ph type="sldNum" sz="quarter" idx="7"/>
          </p:nvPr>
        </p:nvSpPr>
        <p:spPr/>
        <p:txBody>
          <a:bodyPr/>
          <a:lstStyle/>
          <a:p>
            <a:fld id="{B6F15528-21DE-4FAA-801E-634DDDAF4B2B}" type="slidenum">
              <a:rPr lang="es-ES" noProof="0" smtClean="0"/>
              <a:t>5</a:t>
            </a:fld>
            <a:endParaRPr lang="es-ES" noProof="0"/>
          </a:p>
        </p:txBody>
      </p:sp>
      <p:sp>
        <p:nvSpPr>
          <p:cNvPr id="8" name="Rectángulo 7">
            <a:extLst>
              <a:ext uri="{FF2B5EF4-FFF2-40B4-BE49-F238E27FC236}">
                <a16:creationId xmlns:a16="http://schemas.microsoft.com/office/drawing/2014/main" id="{11B3240F-4C2A-F978-9827-1B3B1AC4F07B}"/>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4AE3CF43-5A2F-CB32-73D2-B05CD62346DB}"/>
              </a:ext>
            </a:extLst>
          </p:cNvPr>
          <p:cNvSpPr txBox="1"/>
          <p:nvPr/>
        </p:nvSpPr>
        <p:spPr>
          <a:xfrm>
            <a:off x="1143000" y="1004835"/>
            <a:ext cx="579129" cy="369332"/>
          </a:xfrm>
          <a:prstGeom prst="rect">
            <a:avLst/>
          </a:prstGeom>
          <a:noFill/>
        </p:spPr>
        <p:txBody>
          <a:bodyPr wrap="square" rtlCol="0">
            <a:spAutoFit/>
          </a:bodyPr>
          <a:lstStyle/>
          <a:p>
            <a:endParaRPr lang="es-ES" noProof="0"/>
          </a:p>
        </p:txBody>
      </p:sp>
      <p:sp>
        <p:nvSpPr>
          <p:cNvPr id="11" name="CuadroTexto 10">
            <a:extLst>
              <a:ext uri="{FF2B5EF4-FFF2-40B4-BE49-F238E27FC236}">
                <a16:creationId xmlns:a16="http://schemas.microsoft.com/office/drawing/2014/main" id="{C7EF2D44-6C4F-06D2-0068-00F17F9CDB4B}"/>
              </a:ext>
            </a:extLst>
          </p:cNvPr>
          <p:cNvSpPr txBox="1"/>
          <p:nvPr/>
        </p:nvSpPr>
        <p:spPr>
          <a:xfrm>
            <a:off x="838200" y="838200"/>
            <a:ext cx="10744359" cy="3046988"/>
          </a:xfrm>
          <a:prstGeom prst="rect">
            <a:avLst/>
          </a:prstGeom>
          <a:noFill/>
        </p:spPr>
        <p:txBody>
          <a:bodyPr wrap="square">
            <a:spAutoFit/>
          </a:bodyPr>
          <a:lstStyle/>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Describe </a:t>
            </a:r>
            <a:r>
              <a:rPr lang="es-ES" sz="1200" b="1" noProof="0" err="1">
                <a:latin typeface="Arial" panose="020B0604020202020204" pitchFamily="34" charset="0"/>
                <a:cs typeface="Arial" panose="020B0604020202020204" pitchFamily="34" charset="0"/>
              </a:rPr>
              <a:t>how</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to</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change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wavelength</a:t>
            </a:r>
            <a:r>
              <a:rPr lang="es-ES" sz="1200" b="1" noProof="0">
                <a:latin typeface="Arial" panose="020B0604020202020204" pitchFamily="34" charset="0"/>
                <a:cs typeface="Arial" panose="020B0604020202020204" pitchFamily="34" charset="0"/>
              </a:rPr>
              <a:t> and </a:t>
            </a:r>
            <a:r>
              <a:rPr lang="es-ES" sz="1200" b="1" noProof="0" err="1">
                <a:latin typeface="Arial" panose="020B0604020202020204" pitchFamily="34" charset="0"/>
                <a:cs typeface="Arial" panose="020B0604020202020204" pitchFamily="34" charset="0"/>
              </a:rPr>
              <a:t>width</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for</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waveguide</a:t>
            </a:r>
            <a:r>
              <a:rPr lang="es-ES" sz="1200" b="1" noProof="0">
                <a:latin typeface="Arial" panose="020B0604020202020204" pitchFamily="34" charset="0"/>
                <a:cs typeface="Arial" panose="020B0604020202020204" pitchFamily="34" charset="0"/>
              </a:rPr>
              <a:t> </a:t>
            </a:r>
            <a:r>
              <a:rPr lang="es-ES" sz="1200" b="1" noProof="0" err="1">
                <a:latin typeface="Arial" panose="020B0604020202020204" pitchFamily="34" charset="0"/>
                <a:cs typeface="Arial" panose="020B0604020202020204" pitchFamily="34" charset="0"/>
              </a:rPr>
              <a:t>analysis</a:t>
            </a:r>
            <a:r>
              <a:rPr lang="es-ES" sz="1200" b="1" noProof="0">
                <a:latin typeface="Arial" panose="020B0604020202020204" pitchFamily="34" charset="0"/>
                <a:cs typeface="Arial" panose="020B0604020202020204" pitchFamily="34" charset="0"/>
              </a:rPr>
              <a:t>.</a:t>
            </a:r>
          </a:p>
          <a:p>
            <a:pPr algn="just"/>
            <a:endParaRPr lang="es-ES" sz="1200" noProof="0">
              <a:latin typeface="Arial" panose="020B0604020202020204" pitchFamily="34" charset="0"/>
              <a:cs typeface="Arial" panose="020B0604020202020204" pitchFamily="34" charset="0"/>
            </a:endParaRPr>
          </a:p>
          <a:p>
            <a:pPr algn="just"/>
            <a:r>
              <a:rPr lang="es-ES" sz="1200" noProof="0">
                <a:latin typeface="Arial" panose="020B0604020202020204" pitchFamily="34" charset="0"/>
                <a:cs typeface="Arial" panose="020B0604020202020204" pitchFamily="34" charset="0"/>
              </a:rPr>
              <a:t>Para modificar el valor del </a:t>
            </a:r>
            <a:r>
              <a:rPr lang="es-ES" sz="1200" noProof="0" err="1">
                <a:latin typeface="Arial" panose="020B0604020202020204" pitchFamily="34" charset="0"/>
                <a:cs typeface="Arial" panose="020B0604020202020204" pitchFamily="34" charset="0"/>
              </a:rPr>
              <a:t>wavelength</a:t>
            </a:r>
            <a:r>
              <a:rPr lang="es-ES" sz="1200" noProof="0">
                <a:latin typeface="Arial" panose="020B0604020202020204" pitchFamily="34" charset="0"/>
                <a:cs typeface="Arial" panose="020B0604020202020204" pitchFamily="34" charset="0"/>
              </a:rPr>
              <a:t> se modifica la línea de código:</a:t>
            </a:r>
          </a:p>
          <a:p>
            <a:pPr algn="just"/>
            <a:endParaRPr lang="es-ES" sz="120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Para modificar el valor del </a:t>
            </a:r>
            <a:r>
              <a:rPr lang="es-ES" sz="1200" err="1">
                <a:latin typeface="Arial" panose="020B0604020202020204" pitchFamily="34" charset="0"/>
                <a:cs typeface="Arial" panose="020B0604020202020204" pitchFamily="34" charset="0"/>
              </a:rPr>
              <a:t>width</a:t>
            </a:r>
            <a:r>
              <a:rPr lang="es-ES" sz="1200">
                <a:latin typeface="Arial" panose="020B0604020202020204" pitchFamily="34" charset="0"/>
                <a:cs typeface="Arial" panose="020B0604020202020204" pitchFamily="34" charset="0"/>
              </a:rPr>
              <a:t> se modifica la línea de código:</a:t>
            </a:r>
          </a:p>
          <a:p>
            <a:pPr algn="just"/>
            <a:endParaRPr lang="es-ES" sz="1200" noProof="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Describe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outputs.</a:t>
            </a:r>
          </a:p>
          <a:p>
            <a:pPr algn="just"/>
            <a:endParaRPr lang="es-ES" sz="1200" b="1">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esta primera captura se observa la guía de onda según su índice de refracción. La parte amarilla tiene un índice de refracción de 2 (</a:t>
            </a:r>
            <a:r>
              <a:rPr lang="es-ES" sz="1200"/>
              <a:t>Nitruro de silicio</a:t>
            </a:r>
            <a:r>
              <a:rPr lang="es-ES" sz="1200">
                <a:latin typeface="Arial" panose="020B0604020202020204" pitchFamily="34" charset="0"/>
                <a:cs typeface="Arial" panose="020B0604020202020204" pitchFamily="34" charset="0"/>
              </a:rPr>
              <a:t>) y la parte morada un índice de refracción aproximado de 1.5 (</a:t>
            </a:r>
            <a:r>
              <a:rPr lang="es-ES" sz="1200"/>
              <a:t>Dióxido de silicio</a:t>
            </a:r>
            <a:r>
              <a:rPr lang="es-ES" sz="1200">
                <a:latin typeface="Arial" panose="020B0604020202020204" pitchFamily="34" charset="0"/>
                <a:cs typeface="Arial" panose="020B0604020202020204" pitchFamily="34" charset="0"/>
              </a:rPr>
              <a:t>).</a:t>
            </a:r>
          </a:p>
          <a:p>
            <a:pPr algn="just"/>
            <a:endParaRPr lang="es-ES" sz="1200" noProof="0">
              <a:latin typeface="Arial" panose="020B0604020202020204" pitchFamily="34" charset="0"/>
              <a:cs typeface="Arial" panose="020B0604020202020204" pitchFamily="34" charset="0"/>
            </a:endParaRPr>
          </a:p>
          <a:p>
            <a:pPr algn="just"/>
            <a:endParaRPr lang="es-ES" sz="1200" b="1"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p:txBody>
      </p:sp>
      <p:pic>
        <p:nvPicPr>
          <p:cNvPr id="14" name="Imagen 13">
            <a:extLst>
              <a:ext uri="{FF2B5EF4-FFF2-40B4-BE49-F238E27FC236}">
                <a16:creationId xmlns:a16="http://schemas.microsoft.com/office/drawing/2014/main" id="{7A588AEF-4244-1921-659B-3303760CDEBA}"/>
              </a:ext>
            </a:extLst>
          </p:cNvPr>
          <p:cNvPicPr>
            <a:picLocks noChangeAspect="1"/>
          </p:cNvPicPr>
          <p:nvPr/>
        </p:nvPicPr>
        <p:blipFill>
          <a:blip r:embed="rId2"/>
          <a:stretch>
            <a:fillRect/>
          </a:stretch>
        </p:blipFill>
        <p:spPr>
          <a:xfrm>
            <a:off x="6198870" y="1203886"/>
            <a:ext cx="4514850" cy="323850"/>
          </a:xfrm>
          <a:prstGeom prst="rect">
            <a:avLst/>
          </a:prstGeom>
        </p:spPr>
      </p:pic>
      <p:pic>
        <p:nvPicPr>
          <p:cNvPr id="16" name="Imagen 15">
            <a:extLst>
              <a:ext uri="{FF2B5EF4-FFF2-40B4-BE49-F238E27FC236}">
                <a16:creationId xmlns:a16="http://schemas.microsoft.com/office/drawing/2014/main" id="{C81306DC-55BB-FC37-B5B4-2D503B292C2A}"/>
              </a:ext>
            </a:extLst>
          </p:cNvPr>
          <p:cNvPicPr>
            <a:picLocks noChangeAspect="1"/>
          </p:cNvPicPr>
          <p:nvPr/>
        </p:nvPicPr>
        <p:blipFill>
          <a:blip r:embed="rId3"/>
          <a:stretch>
            <a:fillRect/>
          </a:stretch>
        </p:blipFill>
        <p:spPr>
          <a:xfrm>
            <a:off x="6209426" y="1760487"/>
            <a:ext cx="3343275" cy="276225"/>
          </a:xfrm>
          <a:prstGeom prst="rect">
            <a:avLst/>
          </a:prstGeom>
        </p:spPr>
      </p:pic>
      <p:sp>
        <p:nvSpPr>
          <p:cNvPr id="10" name="Flecha: a la derecha 9">
            <a:extLst>
              <a:ext uri="{FF2B5EF4-FFF2-40B4-BE49-F238E27FC236}">
                <a16:creationId xmlns:a16="http://schemas.microsoft.com/office/drawing/2014/main" id="{06FB9785-FF02-0FA1-3C59-94C0E3C7CDFD}"/>
              </a:ext>
            </a:extLst>
          </p:cNvPr>
          <p:cNvSpPr/>
          <p:nvPr/>
        </p:nvSpPr>
        <p:spPr>
          <a:xfrm>
            <a:off x="5662645" y="1301185"/>
            <a:ext cx="413004" cy="1459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lecha: a la derecha 14">
            <a:extLst>
              <a:ext uri="{FF2B5EF4-FFF2-40B4-BE49-F238E27FC236}">
                <a16:creationId xmlns:a16="http://schemas.microsoft.com/office/drawing/2014/main" id="{435B5AEC-247D-720A-F0E0-2A198C185629}"/>
              </a:ext>
            </a:extLst>
          </p:cNvPr>
          <p:cNvSpPr/>
          <p:nvPr/>
        </p:nvSpPr>
        <p:spPr>
          <a:xfrm>
            <a:off x="5249640" y="1825617"/>
            <a:ext cx="846359" cy="1459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Imagen 17" descr="Gráfico&#10;&#10;El contenido generado por IA puede ser incorrecto.">
            <a:extLst>
              <a:ext uri="{FF2B5EF4-FFF2-40B4-BE49-F238E27FC236}">
                <a16:creationId xmlns:a16="http://schemas.microsoft.com/office/drawing/2014/main" id="{AAAAB5EC-13CC-8BC0-7488-1916EAC556CD}"/>
              </a:ext>
            </a:extLst>
          </p:cNvPr>
          <p:cNvPicPr>
            <a:picLocks noChangeAspect="1"/>
          </p:cNvPicPr>
          <p:nvPr/>
        </p:nvPicPr>
        <p:blipFill>
          <a:blip r:embed="rId4"/>
          <a:stretch>
            <a:fillRect/>
          </a:stretch>
        </p:blipFill>
        <p:spPr>
          <a:xfrm>
            <a:off x="4282360" y="2991654"/>
            <a:ext cx="3627278" cy="2651710"/>
          </a:xfrm>
          <a:prstGeom prst="rect">
            <a:avLst/>
          </a:prstGeom>
        </p:spPr>
      </p:pic>
    </p:spTree>
    <p:extLst>
      <p:ext uri="{BB962C8B-B14F-4D97-AF65-F5344CB8AC3E}">
        <p14:creationId xmlns:p14="http://schemas.microsoft.com/office/powerpoint/2010/main" val="3608947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1CCE-5F99-1CDE-FD05-1A10C2F3FE80}"/>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156E9B7-0E85-7BE5-A93E-C9E402C76778}"/>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4CF80AF1-8021-BB93-EFA9-970A4B14D719}"/>
              </a:ext>
            </a:extLst>
          </p:cNvPr>
          <p:cNvSpPr>
            <a:spLocks noGrp="1"/>
          </p:cNvSpPr>
          <p:nvPr>
            <p:ph type="sldNum" sz="quarter" idx="7"/>
          </p:nvPr>
        </p:nvSpPr>
        <p:spPr/>
        <p:txBody>
          <a:bodyPr/>
          <a:lstStyle/>
          <a:p>
            <a:fld id="{B6F15528-21DE-4FAA-801E-634DDDAF4B2B}" type="slidenum">
              <a:rPr lang="es-ES" noProof="0" smtClean="0"/>
              <a:t>6</a:t>
            </a:fld>
            <a:endParaRPr lang="es-ES" noProof="0"/>
          </a:p>
        </p:txBody>
      </p:sp>
      <p:sp>
        <p:nvSpPr>
          <p:cNvPr id="8" name="Rectángulo 7">
            <a:extLst>
              <a:ext uri="{FF2B5EF4-FFF2-40B4-BE49-F238E27FC236}">
                <a16:creationId xmlns:a16="http://schemas.microsoft.com/office/drawing/2014/main" id="{CB9A1124-B85F-68FB-EDFA-D5C6B2ADCA28}"/>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C0B4018E-3E3A-00D9-6182-7FC3024750B6}"/>
              </a:ext>
            </a:extLst>
          </p:cNvPr>
          <p:cNvSpPr txBox="1"/>
          <p:nvPr/>
        </p:nvSpPr>
        <p:spPr>
          <a:xfrm>
            <a:off x="1143000" y="1004835"/>
            <a:ext cx="579129" cy="369332"/>
          </a:xfrm>
          <a:prstGeom prst="rect">
            <a:avLst/>
          </a:prstGeom>
          <a:noFill/>
        </p:spPr>
        <p:txBody>
          <a:bodyPr wrap="square" rtlCol="0">
            <a:spAutoFit/>
          </a:bodyPr>
          <a:lstStyle/>
          <a:p>
            <a:endParaRPr lang="es-ES" noProof="0"/>
          </a:p>
        </p:txBody>
      </p:sp>
      <p:sp>
        <p:nvSpPr>
          <p:cNvPr id="11" name="CuadroTexto 10">
            <a:extLst>
              <a:ext uri="{FF2B5EF4-FFF2-40B4-BE49-F238E27FC236}">
                <a16:creationId xmlns:a16="http://schemas.microsoft.com/office/drawing/2014/main" id="{CC8934FA-24F1-5E4A-8A27-065BD3298CF8}"/>
              </a:ext>
            </a:extLst>
          </p:cNvPr>
          <p:cNvSpPr txBox="1"/>
          <p:nvPr/>
        </p:nvSpPr>
        <p:spPr>
          <a:xfrm>
            <a:off x="837246" y="822860"/>
            <a:ext cx="10744359" cy="4524315"/>
          </a:xfrm>
          <a:prstGeom prst="rect">
            <a:avLst/>
          </a:prstGeom>
          <a:noFill/>
        </p:spPr>
        <p:txBody>
          <a:bodyPr wrap="square">
            <a:spAutoFit/>
          </a:bodyPr>
          <a:lstStyle/>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 Describe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outputs.</a:t>
            </a:r>
          </a:p>
          <a:p>
            <a:pPr algn="just"/>
            <a:endParaRPr lang="es-ES" sz="1200" b="1">
              <a:latin typeface="Arial" panose="020B0604020202020204" pitchFamily="34" charset="0"/>
              <a:cs typeface="Arial" panose="020B0604020202020204" pitchFamily="34" charset="0"/>
            </a:endParaRPr>
          </a:p>
          <a:p>
            <a:pPr algn="just"/>
            <a:r>
              <a:rPr lang="es-ES" sz="1200" noProof="0">
                <a:latin typeface="Arial" panose="020B0604020202020204" pitchFamily="34" charset="0"/>
                <a:cs typeface="Arial" panose="020B0604020202020204" pitchFamily="34" charset="0"/>
              </a:rPr>
              <a:t>Con los valores que nos salen vemos que los 2 primeros modos cumplen, ya que si los valores reales se aproximan a 2 viajan por el centro por lo tanto se propagan correctamente, pero los valores en los modos 2 y 3 como los valores son mas bajos a 1,45 viajan por fuera por lo tanto se pierde la energía en la cubierta.</a:t>
            </a:r>
          </a:p>
          <a:p>
            <a:pPr algn="just"/>
            <a:endParaRPr lang="es-ES" sz="120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r>
              <a:rPr lang="es-ES" sz="1200" noProof="0">
                <a:latin typeface="Arial" panose="020B0604020202020204" pitchFamily="34" charset="0"/>
                <a:cs typeface="Arial" panose="020B0604020202020204" pitchFamily="34" charset="0"/>
              </a:rPr>
              <a:t>Valores obtenidos para </a:t>
            </a:r>
            <a:r>
              <a:rPr lang="es-ES" sz="1200">
                <a:latin typeface="Arial" panose="020B0604020202020204" pitchFamily="34" charset="0"/>
                <a:cs typeface="Arial" panose="020B0604020202020204" pitchFamily="34" charset="0"/>
              </a:rPr>
              <a:t>TE</a:t>
            </a:r>
            <a:r>
              <a:rPr lang="es-ES" sz="1200" noProof="0">
                <a:latin typeface="Arial" panose="020B0604020202020204" pitchFamily="34" charset="0"/>
                <a:cs typeface="Arial" panose="020B0604020202020204" pitchFamily="34" charset="0"/>
              </a:rPr>
              <a:t> </a:t>
            </a:r>
            <a:r>
              <a:rPr lang="es-ES" sz="1200">
                <a:latin typeface="Arial" panose="020B0604020202020204" pitchFamily="34" charset="0"/>
                <a:cs typeface="Arial" panose="020B0604020202020204" pitchFamily="34" charset="0"/>
              </a:rPr>
              <a:t>son:</a:t>
            </a:r>
            <a:endParaRPr lang="es-ES" sz="1200"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Podemos observar que el modo 0 tiene un porcentaje </a:t>
            </a:r>
          </a:p>
          <a:p>
            <a:pPr algn="just"/>
            <a:r>
              <a:rPr lang="es-ES" sz="1200">
                <a:latin typeface="Arial" panose="020B0604020202020204" pitchFamily="34" charset="0"/>
                <a:cs typeface="Arial" panose="020B0604020202020204" pitchFamily="34" charset="0"/>
              </a:rPr>
              <a:t>d</a:t>
            </a:r>
            <a:r>
              <a:rPr lang="es-ES" sz="1200" noProof="0">
                <a:latin typeface="Arial" panose="020B0604020202020204" pitchFamily="34" charset="0"/>
                <a:cs typeface="Arial" panose="020B0604020202020204" pitchFamily="34" charset="0"/>
              </a:rPr>
              <a:t>e TE0 del 99% y TE1 del1%.</a:t>
            </a: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endParaRPr lang="es-ES" sz="1200" noProof="0">
              <a:latin typeface="Arial" panose="020B0604020202020204" pitchFamily="34" charset="0"/>
              <a:cs typeface="Arial" panose="020B0604020202020204" pitchFamily="34" charset="0"/>
            </a:endParaRPr>
          </a:p>
          <a:p>
            <a:pPr algn="just"/>
            <a:r>
              <a:rPr lang="es-ES" sz="1200" noProof="0">
                <a:latin typeface="Arial" panose="020B0604020202020204" pitchFamily="34" charset="0"/>
                <a:cs typeface="Arial" panose="020B0604020202020204" pitchFamily="34" charset="0"/>
              </a:rPr>
              <a:t>Valores obtenidos para </a:t>
            </a:r>
            <a:r>
              <a:rPr lang="es-ES" sz="1200">
                <a:latin typeface="Arial" panose="020B0604020202020204" pitchFamily="34" charset="0"/>
                <a:cs typeface="Arial" panose="020B0604020202020204" pitchFamily="34" charset="0"/>
              </a:rPr>
              <a:t>TM son:</a:t>
            </a:r>
            <a:endParaRPr lang="es-ES" sz="1200"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Podemos observar que el modo 1 tiene un porcentaje </a:t>
            </a:r>
          </a:p>
          <a:p>
            <a:pPr algn="just"/>
            <a:r>
              <a:rPr lang="es-ES" sz="1200">
                <a:latin typeface="Arial" panose="020B0604020202020204" pitchFamily="34" charset="0"/>
                <a:cs typeface="Arial" panose="020B0604020202020204" pitchFamily="34" charset="0"/>
              </a:rPr>
              <a:t>d</a:t>
            </a:r>
            <a:r>
              <a:rPr lang="es-ES" sz="1200" noProof="0">
                <a:latin typeface="Arial" panose="020B0604020202020204" pitchFamily="34" charset="0"/>
                <a:cs typeface="Arial" panose="020B0604020202020204" pitchFamily="34" charset="0"/>
              </a:rPr>
              <a:t>e TM0 del 1% y TM1 del 99% .</a:t>
            </a:r>
          </a:p>
          <a:p>
            <a:pPr algn="just"/>
            <a:endParaRPr lang="es-ES" sz="1200" noProof="0">
              <a:latin typeface="Arial" panose="020B0604020202020204" pitchFamily="34" charset="0"/>
              <a:cs typeface="Arial" panose="020B0604020202020204" pitchFamily="34" charset="0"/>
            </a:endParaRPr>
          </a:p>
        </p:txBody>
      </p:sp>
      <p:pic>
        <p:nvPicPr>
          <p:cNvPr id="20" name="Imagen 19" descr="Interfaz de usuario gráfica, Texto&#10;&#10;El contenido generado por IA puede ser incorrecto.">
            <a:extLst>
              <a:ext uri="{FF2B5EF4-FFF2-40B4-BE49-F238E27FC236}">
                <a16:creationId xmlns:a16="http://schemas.microsoft.com/office/drawing/2014/main" id="{C54D5BED-AEE8-301B-BCE6-AFC3960F7DFA}"/>
              </a:ext>
            </a:extLst>
          </p:cNvPr>
          <p:cNvPicPr>
            <a:picLocks noChangeAspect="1"/>
          </p:cNvPicPr>
          <p:nvPr/>
        </p:nvPicPr>
        <p:blipFill>
          <a:blip r:embed="rId2"/>
          <a:stretch>
            <a:fillRect/>
          </a:stretch>
        </p:blipFill>
        <p:spPr>
          <a:xfrm>
            <a:off x="2133600" y="1923361"/>
            <a:ext cx="7924800" cy="1277039"/>
          </a:xfrm>
          <a:prstGeom prst="rect">
            <a:avLst/>
          </a:prstGeom>
        </p:spPr>
      </p:pic>
      <p:pic>
        <p:nvPicPr>
          <p:cNvPr id="22" name="Imagen 21" descr="Captura de pantalla de un celular&#10;&#10;El contenido generado por IA puede ser incorrecto.">
            <a:extLst>
              <a:ext uri="{FF2B5EF4-FFF2-40B4-BE49-F238E27FC236}">
                <a16:creationId xmlns:a16="http://schemas.microsoft.com/office/drawing/2014/main" id="{F6D6689A-74B3-2902-EC61-3F83B87ACFE0}"/>
              </a:ext>
            </a:extLst>
          </p:cNvPr>
          <p:cNvPicPr>
            <a:picLocks noChangeAspect="1"/>
          </p:cNvPicPr>
          <p:nvPr/>
        </p:nvPicPr>
        <p:blipFill rotWithShape="1">
          <a:blip r:embed="rId3"/>
          <a:srcRect t="49999" b="6650"/>
          <a:stretch>
            <a:fillRect/>
          </a:stretch>
        </p:blipFill>
        <p:spPr>
          <a:xfrm>
            <a:off x="5257800" y="4370988"/>
            <a:ext cx="3276600" cy="840994"/>
          </a:xfrm>
          <a:prstGeom prst="rect">
            <a:avLst/>
          </a:prstGeom>
        </p:spPr>
      </p:pic>
      <p:pic>
        <p:nvPicPr>
          <p:cNvPr id="2" name="Imagen 1" descr="Captura de pantalla de un celular&#10;&#10;El contenido generado por IA puede ser incorrecto.">
            <a:extLst>
              <a:ext uri="{FF2B5EF4-FFF2-40B4-BE49-F238E27FC236}">
                <a16:creationId xmlns:a16="http://schemas.microsoft.com/office/drawing/2014/main" id="{4C9EF9E5-1DCA-2E69-7C9A-7A89F662452D}"/>
              </a:ext>
            </a:extLst>
          </p:cNvPr>
          <p:cNvPicPr>
            <a:picLocks noChangeAspect="1"/>
          </p:cNvPicPr>
          <p:nvPr/>
        </p:nvPicPr>
        <p:blipFill rotWithShape="1">
          <a:blip r:embed="rId3"/>
          <a:srcRect b="52031"/>
          <a:stretch/>
        </p:blipFill>
        <p:spPr>
          <a:xfrm>
            <a:off x="5257800" y="3350904"/>
            <a:ext cx="3276600" cy="806824"/>
          </a:xfrm>
          <a:prstGeom prst="rect">
            <a:avLst/>
          </a:prstGeom>
        </p:spPr>
      </p:pic>
      <p:sp>
        <p:nvSpPr>
          <p:cNvPr id="3" name="Flecha: a la derecha 14">
            <a:extLst>
              <a:ext uri="{FF2B5EF4-FFF2-40B4-BE49-F238E27FC236}">
                <a16:creationId xmlns:a16="http://schemas.microsoft.com/office/drawing/2014/main" id="{3344EE1C-345B-357E-AAAC-18BC8991053F}"/>
              </a:ext>
            </a:extLst>
          </p:cNvPr>
          <p:cNvSpPr/>
          <p:nvPr/>
        </p:nvSpPr>
        <p:spPr>
          <a:xfrm>
            <a:off x="3301622" y="3443824"/>
            <a:ext cx="1842276" cy="977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Flecha: a la derecha 14">
            <a:extLst>
              <a:ext uri="{FF2B5EF4-FFF2-40B4-BE49-F238E27FC236}">
                <a16:creationId xmlns:a16="http://schemas.microsoft.com/office/drawing/2014/main" id="{51AE388D-2C9F-0D03-9FD6-146968D76C1C}"/>
              </a:ext>
            </a:extLst>
          </p:cNvPr>
          <p:cNvSpPr/>
          <p:nvPr/>
        </p:nvSpPr>
        <p:spPr>
          <a:xfrm>
            <a:off x="3301622" y="4574419"/>
            <a:ext cx="1842276" cy="977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05323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3F7A4-CECB-102A-3670-E12F23494112}"/>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9DE91872-1BCA-89AA-B802-15F243D1195E}"/>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DC39BE6B-EF2B-BF86-9086-199503B7B73F}"/>
              </a:ext>
            </a:extLst>
          </p:cNvPr>
          <p:cNvSpPr>
            <a:spLocks noGrp="1"/>
          </p:cNvSpPr>
          <p:nvPr>
            <p:ph type="sldNum" sz="quarter" idx="7"/>
          </p:nvPr>
        </p:nvSpPr>
        <p:spPr/>
        <p:txBody>
          <a:bodyPr/>
          <a:lstStyle/>
          <a:p>
            <a:fld id="{B6F15528-21DE-4FAA-801E-634DDDAF4B2B}" type="slidenum">
              <a:rPr lang="es-ES" noProof="0" smtClean="0"/>
              <a:t>7</a:t>
            </a:fld>
            <a:endParaRPr lang="es-ES" noProof="0"/>
          </a:p>
        </p:txBody>
      </p:sp>
      <p:sp>
        <p:nvSpPr>
          <p:cNvPr id="8" name="Rectángulo 7">
            <a:extLst>
              <a:ext uri="{FF2B5EF4-FFF2-40B4-BE49-F238E27FC236}">
                <a16:creationId xmlns:a16="http://schemas.microsoft.com/office/drawing/2014/main" id="{A7DEF2EA-D160-3619-655A-2FA2E05645CD}"/>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271678E3-AE0A-2204-9C87-A7F13AAE9CB9}"/>
              </a:ext>
            </a:extLst>
          </p:cNvPr>
          <p:cNvSpPr txBox="1"/>
          <p:nvPr/>
        </p:nvSpPr>
        <p:spPr>
          <a:xfrm>
            <a:off x="1143000" y="1004835"/>
            <a:ext cx="579129" cy="369332"/>
          </a:xfrm>
          <a:prstGeom prst="rect">
            <a:avLst/>
          </a:prstGeom>
          <a:noFill/>
        </p:spPr>
        <p:txBody>
          <a:bodyPr wrap="square" rtlCol="0">
            <a:spAutoFit/>
          </a:bodyPr>
          <a:lstStyle/>
          <a:p>
            <a:endParaRPr lang="es-ES" noProof="0"/>
          </a:p>
        </p:txBody>
      </p:sp>
      <p:pic>
        <p:nvPicPr>
          <p:cNvPr id="6" name="Imagen 5" descr="Interfaz de usuario gráfica&#10;&#10;El contenido generado por IA puede ser incorrecto.">
            <a:extLst>
              <a:ext uri="{FF2B5EF4-FFF2-40B4-BE49-F238E27FC236}">
                <a16:creationId xmlns:a16="http://schemas.microsoft.com/office/drawing/2014/main" id="{EEDBB166-6519-EEB5-99C0-34C36A888B34}"/>
              </a:ext>
            </a:extLst>
          </p:cNvPr>
          <p:cNvPicPr>
            <a:picLocks noChangeAspect="1"/>
          </p:cNvPicPr>
          <p:nvPr/>
        </p:nvPicPr>
        <p:blipFill>
          <a:blip r:embed="rId2"/>
          <a:srcRect l="-156" r="12807"/>
          <a:stretch>
            <a:fillRect/>
          </a:stretch>
        </p:blipFill>
        <p:spPr>
          <a:xfrm>
            <a:off x="6481266" y="752554"/>
            <a:ext cx="5214548" cy="4925232"/>
          </a:xfrm>
          <a:prstGeom prst="rect">
            <a:avLst/>
          </a:prstGeom>
        </p:spPr>
      </p:pic>
      <p:sp>
        <p:nvSpPr>
          <p:cNvPr id="3" name="CuadroTexto 2">
            <a:extLst>
              <a:ext uri="{FF2B5EF4-FFF2-40B4-BE49-F238E27FC236}">
                <a16:creationId xmlns:a16="http://schemas.microsoft.com/office/drawing/2014/main" id="{E66F9071-A72B-39D1-44B5-E5807F077547}"/>
              </a:ext>
            </a:extLst>
          </p:cNvPr>
          <p:cNvSpPr txBox="1"/>
          <p:nvPr/>
        </p:nvSpPr>
        <p:spPr>
          <a:xfrm>
            <a:off x="1143000" y="1004835"/>
            <a:ext cx="4953000" cy="1569660"/>
          </a:xfrm>
          <a:prstGeom prst="rect">
            <a:avLst/>
          </a:prstGeom>
          <a:noFill/>
        </p:spPr>
        <p:txBody>
          <a:bodyPr wrap="square">
            <a:spAutoFit/>
          </a:bodyPr>
          <a:lstStyle/>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Describe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outputs.</a:t>
            </a:r>
            <a:endParaRPr lang="es-ES" sz="1200" b="1">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s-ES" sz="1200" b="1"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esta imagen se muestra el perfil del modo transversal eléctrico. En este caso se representa el modo 0 (TE), por lo que solo se observa un lóbulo.</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La gráfica nos indica que el modo está confinado y que en las paredes existen unas </a:t>
            </a:r>
            <a:r>
              <a:rPr lang="es-ES" sz="1200" err="1">
                <a:latin typeface="Arial" panose="020B0604020202020204" pitchFamily="34" charset="0"/>
                <a:cs typeface="Arial" panose="020B0604020202020204" pitchFamily="34" charset="0"/>
              </a:rPr>
              <a:t>discontiuidades</a:t>
            </a:r>
            <a:r>
              <a:rPr lang="es-ES" sz="12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63862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3F7A4-CECB-102A-3670-E12F23494112}"/>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9DE91872-1BCA-89AA-B802-15F243D1195E}"/>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DC39BE6B-EF2B-BF86-9086-199503B7B73F}"/>
              </a:ext>
            </a:extLst>
          </p:cNvPr>
          <p:cNvSpPr>
            <a:spLocks noGrp="1"/>
          </p:cNvSpPr>
          <p:nvPr>
            <p:ph type="sldNum" sz="quarter" idx="7"/>
          </p:nvPr>
        </p:nvSpPr>
        <p:spPr/>
        <p:txBody>
          <a:bodyPr/>
          <a:lstStyle/>
          <a:p>
            <a:fld id="{B6F15528-21DE-4FAA-801E-634DDDAF4B2B}" type="slidenum">
              <a:rPr lang="es-ES" noProof="0" smtClean="0"/>
              <a:t>8</a:t>
            </a:fld>
            <a:endParaRPr lang="es-ES" noProof="0"/>
          </a:p>
        </p:txBody>
      </p:sp>
      <p:sp>
        <p:nvSpPr>
          <p:cNvPr id="8" name="Rectángulo 7">
            <a:extLst>
              <a:ext uri="{FF2B5EF4-FFF2-40B4-BE49-F238E27FC236}">
                <a16:creationId xmlns:a16="http://schemas.microsoft.com/office/drawing/2014/main" id="{A7DEF2EA-D160-3619-655A-2FA2E05645CD}"/>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271678E3-AE0A-2204-9C87-A7F13AAE9CB9}"/>
              </a:ext>
            </a:extLst>
          </p:cNvPr>
          <p:cNvSpPr txBox="1"/>
          <p:nvPr/>
        </p:nvSpPr>
        <p:spPr>
          <a:xfrm>
            <a:off x="1143000" y="1004835"/>
            <a:ext cx="579129" cy="369332"/>
          </a:xfrm>
          <a:prstGeom prst="rect">
            <a:avLst/>
          </a:prstGeom>
          <a:noFill/>
        </p:spPr>
        <p:txBody>
          <a:bodyPr wrap="square" rtlCol="0">
            <a:spAutoFit/>
          </a:bodyPr>
          <a:lstStyle/>
          <a:p>
            <a:endParaRPr lang="es-ES" noProof="0"/>
          </a:p>
        </p:txBody>
      </p:sp>
      <p:pic>
        <p:nvPicPr>
          <p:cNvPr id="10" name="Imagen 9" descr="Interfaz de usuario gráfica&#10;&#10;El contenido generado por IA puede ser incorrecto.">
            <a:extLst>
              <a:ext uri="{FF2B5EF4-FFF2-40B4-BE49-F238E27FC236}">
                <a16:creationId xmlns:a16="http://schemas.microsoft.com/office/drawing/2014/main" id="{665C654E-57C9-2681-91F2-346B847B3715}"/>
              </a:ext>
            </a:extLst>
          </p:cNvPr>
          <p:cNvPicPr>
            <a:picLocks noChangeAspect="1"/>
          </p:cNvPicPr>
          <p:nvPr/>
        </p:nvPicPr>
        <p:blipFill>
          <a:blip r:embed="rId2"/>
          <a:stretch>
            <a:fillRect/>
          </a:stretch>
        </p:blipFill>
        <p:spPr>
          <a:xfrm>
            <a:off x="4686717" y="884632"/>
            <a:ext cx="6895842" cy="4631536"/>
          </a:xfrm>
          <a:prstGeom prst="rect">
            <a:avLst/>
          </a:prstGeom>
        </p:spPr>
      </p:pic>
      <p:sp>
        <p:nvSpPr>
          <p:cNvPr id="7" name="CuadroTexto 6">
            <a:extLst>
              <a:ext uri="{FF2B5EF4-FFF2-40B4-BE49-F238E27FC236}">
                <a16:creationId xmlns:a16="http://schemas.microsoft.com/office/drawing/2014/main" id="{2847CB53-0AF4-B14E-B8AE-D1202AA1F506}"/>
              </a:ext>
            </a:extLst>
          </p:cNvPr>
          <p:cNvSpPr txBox="1"/>
          <p:nvPr/>
        </p:nvSpPr>
        <p:spPr>
          <a:xfrm>
            <a:off x="1143000" y="1004835"/>
            <a:ext cx="3226981" cy="1754326"/>
          </a:xfrm>
          <a:prstGeom prst="rect">
            <a:avLst/>
          </a:prstGeom>
          <a:noFill/>
        </p:spPr>
        <p:txBody>
          <a:bodyPr wrap="square">
            <a:spAutoFit/>
          </a:bodyPr>
          <a:lstStyle/>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Describe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outputs.</a:t>
            </a:r>
            <a:endParaRPr lang="es-ES" sz="1200" b="1">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s-ES" sz="1200" b="1"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esta imagen se representa el modo 1 TM.</a:t>
            </a:r>
          </a:p>
          <a:p>
            <a:pPr algn="just"/>
            <a:endParaRPr lang="es-E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La gráfica nos indica que ahora las discontinuidades están en el centro. Esto hace que sea más susceptible a las rugosidades del techo y el suelo (al contrario que el modo TE)</a:t>
            </a:r>
          </a:p>
        </p:txBody>
      </p:sp>
    </p:spTree>
    <p:extLst>
      <p:ext uri="{BB962C8B-B14F-4D97-AF65-F5344CB8AC3E}">
        <p14:creationId xmlns:p14="http://schemas.microsoft.com/office/powerpoint/2010/main" val="97696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7D135-C031-ED06-FFA2-23EDC15C7BEC}"/>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33844C7-0B18-B651-B29E-3283973B91F5}"/>
              </a:ext>
            </a:extLst>
          </p:cNvPr>
          <p:cNvSpPr>
            <a:spLocks noGrp="1"/>
          </p:cNvSpPr>
          <p:nvPr>
            <p:ph type="ftr" sz="quarter" idx="5"/>
          </p:nvPr>
        </p:nvSpPr>
        <p:spPr/>
        <p:txBody>
          <a:bodyPr/>
          <a:lstStyle/>
          <a:p>
            <a:pPr marL="12700">
              <a:spcBef>
                <a:spcPts val="15"/>
              </a:spcBef>
            </a:pPr>
            <a:r>
              <a:rPr lang="es-ES" spc="-5" noProof="0"/>
              <a:t>LAB 1.0 WAVEGUIDES</a:t>
            </a:r>
          </a:p>
        </p:txBody>
      </p:sp>
      <p:sp>
        <p:nvSpPr>
          <p:cNvPr id="5" name="Marcador de número de diapositiva 4">
            <a:extLst>
              <a:ext uri="{FF2B5EF4-FFF2-40B4-BE49-F238E27FC236}">
                <a16:creationId xmlns:a16="http://schemas.microsoft.com/office/drawing/2014/main" id="{C4E295F6-0807-0E23-88D0-BBA7C9F6A082}"/>
              </a:ext>
            </a:extLst>
          </p:cNvPr>
          <p:cNvSpPr>
            <a:spLocks noGrp="1"/>
          </p:cNvSpPr>
          <p:nvPr>
            <p:ph type="sldNum" sz="quarter" idx="7"/>
          </p:nvPr>
        </p:nvSpPr>
        <p:spPr/>
        <p:txBody>
          <a:bodyPr/>
          <a:lstStyle/>
          <a:p>
            <a:fld id="{B6F15528-21DE-4FAA-801E-634DDDAF4B2B}" type="slidenum">
              <a:rPr lang="es-ES" noProof="0" smtClean="0"/>
              <a:t>9</a:t>
            </a:fld>
            <a:endParaRPr lang="es-ES" noProof="0"/>
          </a:p>
        </p:txBody>
      </p:sp>
      <p:sp>
        <p:nvSpPr>
          <p:cNvPr id="8" name="Rectángulo 7">
            <a:extLst>
              <a:ext uri="{FF2B5EF4-FFF2-40B4-BE49-F238E27FC236}">
                <a16:creationId xmlns:a16="http://schemas.microsoft.com/office/drawing/2014/main" id="{B22CC0C8-EC3B-8DE6-C089-2747070F9AB3}"/>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9" name="CuadroTexto 8">
            <a:extLst>
              <a:ext uri="{FF2B5EF4-FFF2-40B4-BE49-F238E27FC236}">
                <a16:creationId xmlns:a16="http://schemas.microsoft.com/office/drawing/2014/main" id="{BBA3C0C2-CB88-EA09-2751-EA41B43FBDF3}"/>
              </a:ext>
            </a:extLst>
          </p:cNvPr>
          <p:cNvSpPr txBox="1"/>
          <p:nvPr/>
        </p:nvSpPr>
        <p:spPr>
          <a:xfrm>
            <a:off x="1143000" y="1004835"/>
            <a:ext cx="579129" cy="369332"/>
          </a:xfrm>
          <a:prstGeom prst="rect">
            <a:avLst/>
          </a:prstGeom>
          <a:noFill/>
        </p:spPr>
        <p:txBody>
          <a:bodyPr wrap="square" rtlCol="0">
            <a:spAutoFit/>
          </a:bodyPr>
          <a:lstStyle/>
          <a:p>
            <a:endParaRPr lang="es-ES" noProof="0"/>
          </a:p>
        </p:txBody>
      </p:sp>
      <p:pic>
        <p:nvPicPr>
          <p:cNvPr id="3" name="Imagen 2" descr="Interfaz de usuario gráfica&#10;&#10;El contenido generado por IA puede ser incorrecto.">
            <a:extLst>
              <a:ext uri="{FF2B5EF4-FFF2-40B4-BE49-F238E27FC236}">
                <a16:creationId xmlns:a16="http://schemas.microsoft.com/office/drawing/2014/main" id="{ABF2CD5E-8BC2-02CB-54AB-BDC1CAC81E79}"/>
              </a:ext>
            </a:extLst>
          </p:cNvPr>
          <p:cNvPicPr>
            <a:picLocks noChangeAspect="1"/>
          </p:cNvPicPr>
          <p:nvPr/>
        </p:nvPicPr>
        <p:blipFill>
          <a:blip r:embed="rId2"/>
          <a:stretch>
            <a:fillRect/>
          </a:stretch>
        </p:blipFill>
        <p:spPr>
          <a:xfrm>
            <a:off x="6384850" y="893046"/>
            <a:ext cx="4811233" cy="4614707"/>
          </a:xfrm>
          <a:prstGeom prst="rect">
            <a:avLst/>
          </a:prstGeom>
        </p:spPr>
      </p:pic>
      <p:sp>
        <p:nvSpPr>
          <p:cNvPr id="7" name="CuadroTexto 6">
            <a:extLst>
              <a:ext uri="{FF2B5EF4-FFF2-40B4-BE49-F238E27FC236}">
                <a16:creationId xmlns:a16="http://schemas.microsoft.com/office/drawing/2014/main" id="{5A17D236-7A76-BD6F-849D-08ABE66CAC16}"/>
              </a:ext>
            </a:extLst>
          </p:cNvPr>
          <p:cNvSpPr txBox="1"/>
          <p:nvPr/>
        </p:nvSpPr>
        <p:spPr>
          <a:xfrm>
            <a:off x="1143000" y="1004835"/>
            <a:ext cx="4811233" cy="2677656"/>
          </a:xfrm>
          <a:prstGeom prst="rect">
            <a:avLst/>
          </a:prstGeom>
          <a:noFill/>
        </p:spPr>
        <p:txBody>
          <a:bodyPr wrap="square">
            <a:spAutoFit/>
          </a:bodyPr>
          <a:lstStyle/>
          <a:p>
            <a:pPr marL="171450" indent="-171450" algn="just">
              <a:buFont typeface="Arial" panose="020B0604020202020204" pitchFamily="34" charset="0"/>
              <a:buChar char="•"/>
            </a:pPr>
            <a:r>
              <a:rPr lang="es-ES" sz="1200" b="1" noProof="0">
                <a:latin typeface="Arial" panose="020B0604020202020204" pitchFamily="34" charset="0"/>
                <a:cs typeface="Arial" panose="020B0604020202020204" pitchFamily="34" charset="0"/>
              </a:rPr>
              <a:t>Describe </a:t>
            </a:r>
            <a:r>
              <a:rPr lang="es-ES" sz="1200" b="1" noProof="0" err="1">
                <a:latin typeface="Arial" panose="020B0604020202020204" pitchFamily="34" charset="0"/>
                <a:cs typeface="Arial" panose="020B0604020202020204" pitchFamily="34" charset="0"/>
              </a:rPr>
              <a:t>the</a:t>
            </a:r>
            <a:r>
              <a:rPr lang="es-ES" sz="1200" b="1" noProof="0">
                <a:latin typeface="Arial" panose="020B0604020202020204" pitchFamily="34" charset="0"/>
                <a:cs typeface="Arial" panose="020B0604020202020204" pitchFamily="34" charset="0"/>
              </a:rPr>
              <a:t> outputs.</a:t>
            </a:r>
            <a:endParaRPr lang="es-ES" sz="1200" b="1">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endParaRPr lang="es-ES" sz="1200" b="1" noProof="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En esta imagen se representa el modo de índice 3.</a:t>
            </a:r>
          </a:p>
          <a:p>
            <a:pPr algn="just"/>
            <a:endParaRPr lang="es-ES" sz="1200">
              <a:latin typeface="Arial" panose="020B0604020202020204" pitchFamily="34" charset="0"/>
              <a:cs typeface="Arial" panose="020B0604020202020204" pitchFamily="34" charset="0"/>
            </a:endParaRPr>
          </a:p>
          <a:p>
            <a:pPr algn="just"/>
            <a:r>
              <a:rPr lang="es-ES" sz="1200" i="0" u="none" strike="noStrike">
                <a:solidFill>
                  <a:srgbClr val="000000"/>
                </a:solidFill>
                <a:effectLst/>
                <a:latin typeface="Arial" panose="020B0604020202020204" pitchFamily="34" charset="0"/>
                <a:cs typeface="Arial" panose="020B0604020202020204" pitchFamily="34" charset="0"/>
              </a:rPr>
              <a:t>Se observa una ausencia total de confinamiento. El campo no se localiza en el núcleo de la guía, sino que se distribuye por el revestimiento, comportándose como un modo de radiación. Este fenómeno indica que, para estas condiciones de diseño, el modo no es guiado y la energía se perdería por completo durante la propagación (modo perdido). </a:t>
            </a:r>
            <a:endParaRPr lang="es-ES" sz="120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a:p>
            <a:pPr algn="just"/>
            <a:endParaRPr lang="es-E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3169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err="1"/>
              <a:t>Learning</a:t>
            </a:r>
            <a:r>
              <a:rPr lang="es-ES" sz="2500" noProof="0"/>
              <a:t> </a:t>
            </a:r>
            <a:r>
              <a:rPr lang="es-ES" sz="2500" noProof="0" err="1"/>
              <a:t>outcome</a:t>
            </a:r>
            <a:r>
              <a:rPr lang="es-ES" sz="2500" noProof="0"/>
              <a:t> #2 – </a:t>
            </a:r>
            <a:r>
              <a:rPr lang="es-ES" sz="2500" noProof="0" err="1"/>
              <a:t>Wavelength</a:t>
            </a:r>
            <a:r>
              <a:rPr lang="es-ES" sz="2500" noProof="0"/>
              <a:t> </a:t>
            </a:r>
            <a:r>
              <a:rPr lang="es-ES" sz="2500" noProof="0" err="1"/>
              <a:t>behavior</a:t>
            </a:r>
            <a:br>
              <a:rPr lang="es-ES" sz="2500" spc="-5" noProof="0">
                <a:latin typeface="+mj-lt"/>
                <a:cs typeface="Lucida Sans"/>
              </a:rPr>
            </a:br>
            <a:r>
              <a:rPr lang="es-ES" b="0" noProof="0" err="1"/>
              <a:t>Wavelength</a:t>
            </a:r>
            <a:r>
              <a:rPr lang="es-ES" b="0" noProof="0"/>
              <a:t> 1.5-1.6 µm (step 0.01 µm) – </a:t>
            </a:r>
            <a:r>
              <a:rPr lang="es-ES" b="0" noProof="0" err="1"/>
              <a:t>width</a:t>
            </a:r>
            <a:r>
              <a:rPr lang="es-ES" b="0" noProof="0"/>
              <a:t> 1.2 µm</a:t>
            </a:r>
            <a:endParaRPr lang="es-ES" sz="2500" b="0" noProof="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noProof="0" smtClean="0"/>
              <a:t>10</a:t>
            </a:fld>
            <a:endParaRPr lang="es-ES" noProof="0"/>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noProof="0"/>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583019" y="4858090"/>
            <a:ext cx="11199971" cy="830997"/>
          </a:xfrm>
          <a:prstGeom prst="rect">
            <a:avLst/>
          </a:prstGeom>
          <a:solidFill>
            <a:schemeClr val="bg1">
              <a:lumMod val="95000"/>
            </a:schemeClr>
          </a:solidFill>
          <a:ln w="28575">
            <a:solidFill>
              <a:srgbClr val="E0700D"/>
            </a:solidFill>
          </a:ln>
        </p:spPr>
        <p:txBody>
          <a:bodyPr wrap="square" rtlCol="0">
            <a:spAutoFit/>
          </a:bodyPr>
          <a:lstStyle/>
          <a:p>
            <a:pPr algn="l"/>
            <a:r>
              <a:rPr lang="es-ES" sz="1200" b="0" i="0" u="none" strike="noStrike" dirty="0">
                <a:solidFill>
                  <a:srgbClr val="000000"/>
                </a:solidFill>
                <a:effectLst/>
                <a:latin typeface="Arial" panose="020B0604020202020204" pitchFamily="34" charset="0"/>
                <a:cs typeface="Arial" panose="020B0604020202020204" pitchFamily="34" charset="0"/>
              </a:rPr>
              <a:t>En ambas gráficas se observa que el índice de refracción efectivo (</a:t>
            </a:r>
            <a:r>
              <a:rPr lang="es-ES" sz="1200" b="0" i="0" u="none" strike="noStrike" dirty="0" err="1">
                <a:solidFill>
                  <a:srgbClr val="000000"/>
                </a:solidFill>
                <a:effectLst/>
                <a:latin typeface="Arial" panose="020B0604020202020204" pitchFamily="34" charset="0"/>
                <a:cs typeface="Arial" panose="020B0604020202020204" pitchFamily="34" charset="0"/>
              </a:rPr>
              <a:t>neff</a:t>
            </a:r>
            <a:r>
              <a:rPr lang="es-ES" sz="1200" b="0" i="0" u="none" strike="noStrike" dirty="0">
                <a:solidFill>
                  <a:srgbClr val="000000"/>
                </a:solidFill>
                <a:effectLst/>
                <a:latin typeface="Arial" panose="020B0604020202020204" pitchFamily="34" charset="0"/>
                <a:cs typeface="Arial" panose="020B0604020202020204" pitchFamily="34" charset="0"/>
              </a:rPr>
              <a:t>​) disminuye de forma casi lineal al aumentar la longitud de onda. Al comparar ambas geometrías, la</a:t>
            </a:r>
            <a:r>
              <a:rPr lang="es-ES" sz="1200" i="0" u="none" strike="noStrike" dirty="0">
                <a:solidFill>
                  <a:srgbClr val="000000"/>
                </a:solidFill>
                <a:effectLst/>
                <a:latin typeface="Arial" panose="020B0604020202020204" pitchFamily="34" charset="0"/>
                <a:cs typeface="Arial" panose="020B0604020202020204" pitchFamily="34" charset="0"/>
              </a:rPr>
              <a:t> </a:t>
            </a:r>
            <a:r>
              <a:rPr lang="es-ES" sz="1200" i="0" u="none" strike="noStrike" dirty="0" err="1">
                <a:solidFill>
                  <a:srgbClr val="000000"/>
                </a:solidFill>
                <a:effectLst/>
                <a:latin typeface="Arial" panose="020B0604020202020204" pitchFamily="34" charset="0"/>
                <a:cs typeface="Arial" panose="020B0604020202020204" pitchFamily="34" charset="0"/>
              </a:rPr>
              <a:t>shallow</a:t>
            </a:r>
            <a:r>
              <a:rPr lang="es-ES" sz="1200" i="0" u="none" strike="noStrike" dirty="0">
                <a:solidFill>
                  <a:srgbClr val="000000"/>
                </a:solidFill>
                <a:effectLst/>
                <a:latin typeface="Arial" panose="020B0604020202020204" pitchFamily="34" charset="0"/>
                <a:cs typeface="Arial" panose="020B0604020202020204" pitchFamily="34" charset="0"/>
              </a:rPr>
              <a:t> </a:t>
            </a:r>
            <a:r>
              <a:rPr lang="es-ES" sz="1200" i="0" u="none" strike="noStrike" dirty="0" err="1">
                <a:solidFill>
                  <a:srgbClr val="000000"/>
                </a:solidFill>
                <a:effectLst/>
                <a:latin typeface="Arial" panose="020B0604020202020204" pitchFamily="34" charset="0"/>
                <a:cs typeface="Arial" panose="020B0604020202020204" pitchFamily="34" charset="0"/>
              </a:rPr>
              <a:t>waveguide</a:t>
            </a:r>
            <a:r>
              <a:rPr lang="es-ES" sz="1200" i="0" u="none" strike="noStrike" dirty="0">
                <a:solidFill>
                  <a:srgbClr val="000000"/>
                </a:solidFill>
                <a:effectLst/>
                <a:latin typeface="Arial" panose="020B0604020202020204" pitchFamily="34" charset="0"/>
                <a:cs typeface="Arial" panose="020B0604020202020204" pitchFamily="34" charset="0"/>
              </a:rPr>
              <a:t> </a:t>
            </a:r>
            <a:r>
              <a:rPr lang="es-ES" sz="1200" b="0" i="0" u="none" strike="noStrike" dirty="0">
                <a:solidFill>
                  <a:srgbClr val="000000"/>
                </a:solidFill>
                <a:effectLst/>
                <a:latin typeface="Arial" panose="020B0604020202020204" pitchFamily="34" charset="0"/>
                <a:cs typeface="Arial" panose="020B0604020202020204" pitchFamily="34" charset="0"/>
              </a:rPr>
              <a:t>(con </a:t>
            </a:r>
            <a:r>
              <a:rPr lang="es-ES" sz="1200" b="0" i="0" u="none" strike="noStrike" dirty="0" err="1">
                <a:solidFill>
                  <a:srgbClr val="000000"/>
                </a:solidFill>
                <a:effectLst/>
                <a:latin typeface="Arial" panose="020B0604020202020204" pitchFamily="34" charset="0"/>
                <a:cs typeface="Arial" panose="020B0604020202020204" pitchFamily="34" charset="0"/>
              </a:rPr>
              <a:t>slab</a:t>
            </a:r>
            <a:r>
              <a:rPr lang="es-ES" sz="1200" b="0" i="0" u="none" strike="noStrike" dirty="0">
                <a:solidFill>
                  <a:srgbClr val="000000"/>
                </a:solidFill>
                <a:effectLst/>
                <a:latin typeface="Arial" panose="020B0604020202020204" pitchFamily="34" charset="0"/>
                <a:cs typeface="Arial" panose="020B0604020202020204" pitchFamily="34" charset="0"/>
              </a:rPr>
              <a:t> de 150nm) presenta valores de </a:t>
            </a:r>
            <a:r>
              <a:rPr lang="es-ES" sz="1200" b="0" i="0" u="none" strike="noStrike" dirty="0" err="1">
                <a:solidFill>
                  <a:srgbClr val="000000"/>
                </a:solidFill>
                <a:effectLst/>
                <a:latin typeface="Arial" panose="020B0604020202020204" pitchFamily="34" charset="0"/>
                <a:cs typeface="Arial" panose="020B0604020202020204" pitchFamily="34" charset="0"/>
              </a:rPr>
              <a:t>neff</a:t>
            </a:r>
            <a:r>
              <a:rPr lang="es-ES" sz="1200" b="0" i="0" u="none" strike="noStrike" dirty="0">
                <a:solidFill>
                  <a:srgbClr val="000000"/>
                </a:solidFill>
                <a:effectLst/>
                <a:latin typeface="Arial" panose="020B0604020202020204" pitchFamily="34" charset="0"/>
                <a:cs typeface="Arial" panose="020B0604020202020204" pitchFamily="34" charset="0"/>
              </a:rPr>
              <a:t>​ más elevados para todos los modos debido a que el </a:t>
            </a:r>
            <a:r>
              <a:rPr lang="es-ES" sz="1200" b="0" i="0" u="none" strike="noStrike" dirty="0" err="1">
                <a:solidFill>
                  <a:srgbClr val="000000"/>
                </a:solidFill>
                <a:effectLst/>
                <a:latin typeface="Arial" panose="020B0604020202020204" pitchFamily="34" charset="0"/>
                <a:cs typeface="Arial" panose="020B0604020202020204" pitchFamily="34" charset="0"/>
              </a:rPr>
              <a:t>slab</a:t>
            </a:r>
            <a:r>
              <a:rPr lang="es-ES" sz="1200" b="0" i="0" u="none" strike="noStrike" dirty="0">
                <a:solidFill>
                  <a:srgbClr val="000000"/>
                </a:solidFill>
                <a:effectLst/>
                <a:latin typeface="Arial" panose="020B0604020202020204" pitchFamily="34" charset="0"/>
                <a:cs typeface="Arial" panose="020B0604020202020204" pitchFamily="34" charset="0"/>
              </a:rPr>
              <a:t> aporta un mayor volumen que ayuda a retener la energía, mientras que en la </a:t>
            </a:r>
            <a:r>
              <a:rPr lang="es-ES" sz="1200" i="0" u="none" strike="noStrike" dirty="0" err="1">
                <a:solidFill>
                  <a:srgbClr val="000000"/>
                </a:solidFill>
                <a:effectLst/>
                <a:latin typeface="Arial" panose="020B0604020202020204" pitchFamily="34" charset="0"/>
                <a:cs typeface="Arial" panose="020B0604020202020204" pitchFamily="34" charset="0"/>
              </a:rPr>
              <a:t>deep</a:t>
            </a:r>
            <a:r>
              <a:rPr lang="es-ES" sz="1200" i="0" u="none" strike="noStrike" dirty="0">
                <a:solidFill>
                  <a:srgbClr val="000000"/>
                </a:solidFill>
                <a:effectLst/>
                <a:latin typeface="Arial" panose="020B0604020202020204" pitchFamily="34" charset="0"/>
                <a:cs typeface="Arial" panose="020B0604020202020204" pitchFamily="34" charset="0"/>
              </a:rPr>
              <a:t> </a:t>
            </a:r>
            <a:r>
              <a:rPr lang="es-ES" sz="1200" i="0" u="none" strike="noStrike" dirty="0" err="1">
                <a:solidFill>
                  <a:srgbClr val="000000"/>
                </a:solidFill>
                <a:effectLst/>
                <a:latin typeface="Arial" panose="020B0604020202020204" pitchFamily="34" charset="0"/>
                <a:cs typeface="Arial" panose="020B0604020202020204" pitchFamily="34" charset="0"/>
              </a:rPr>
              <a:t>waveguide</a:t>
            </a:r>
            <a:r>
              <a:rPr lang="es-ES" sz="1200" b="0" i="0" u="none" strike="noStrike" dirty="0">
                <a:solidFill>
                  <a:srgbClr val="000000"/>
                </a:solidFill>
                <a:effectLst/>
                <a:latin typeface="Arial" panose="020B0604020202020204" pitchFamily="34" charset="0"/>
                <a:cs typeface="Arial" panose="020B0604020202020204" pitchFamily="34" charset="0"/>
              </a:rPr>
              <a:t>, reduce </a:t>
            </a:r>
            <a:r>
              <a:rPr lang="es-ES" sz="1200" b="0" i="0" u="none" strike="noStrike" dirty="0" err="1">
                <a:solidFill>
                  <a:srgbClr val="000000"/>
                </a:solidFill>
                <a:effectLst/>
                <a:latin typeface="Arial" panose="020B0604020202020204" pitchFamily="34" charset="0"/>
                <a:cs typeface="Arial" panose="020B0604020202020204" pitchFamily="34" charset="0"/>
              </a:rPr>
              <a:t>neff</a:t>
            </a:r>
            <a:r>
              <a:rPr lang="es-ES" sz="1200" b="0" i="0" u="none" strike="noStrike" dirty="0">
                <a:solidFill>
                  <a:srgbClr val="000000"/>
                </a:solidFill>
                <a:effectLst/>
                <a:latin typeface="Arial" panose="020B0604020202020204" pitchFamily="34" charset="0"/>
                <a:cs typeface="Arial" panose="020B0604020202020204" pitchFamily="34" charset="0"/>
              </a:rPr>
              <a:t>.</a:t>
            </a:r>
          </a:p>
          <a:p>
            <a:pPr algn="l"/>
            <a:endParaRPr lang="es-ES" sz="1200" b="0" i="0" u="none" strike="noStrike" dirty="0">
              <a:solidFill>
                <a:srgbClr val="000000"/>
              </a:solidFill>
              <a:effectLst/>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s-ES" b="1" noProof="0" err="1"/>
              <a:t>shallow</a:t>
            </a:r>
            <a:r>
              <a:rPr lang="es-ES" noProof="0"/>
              <a:t> </a:t>
            </a:r>
            <a:r>
              <a:rPr lang="es-ES" noProof="0" err="1"/>
              <a:t>waveguide</a:t>
            </a:r>
            <a:endParaRPr lang="es-ES" noProof="0"/>
          </a:p>
          <a:p>
            <a:pPr algn="ctr"/>
            <a:endParaRPr lang="es-ES" noProof="0"/>
          </a:p>
          <a:p>
            <a:pPr algn="ctr"/>
            <a:r>
              <a:rPr lang="es-ES" noProof="0"/>
              <a:t>Paste </a:t>
            </a:r>
            <a:r>
              <a:rPr lang="es-ES" noProof="0" err="1"/>
              <a:t>plot</a:t>
            </a:r>
            <a:r>
              <a:rPr lang="es-ES" noProof="0"/>
              <a:t> </a:t>
            </a:r>
            <a:r>
              <a:rPr lang="es-ES" noProof="0" err="1"/>
              <a:t>here</a:t>
            </a:r>
            <a:endParaRPr lang="es-ES" noProof="0"/>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s-ES" b="1" noProof="0" err="1"/>
              <a:t>deep</a:t>
            </a:r>
            <a:r>
              <a:rPr lang="es-ES" noProof="0"/>
              <a:t> </a:t>
            </a:r>
            <a:r>
              <a:rPr lang="es-ES" noProof="0" err="1"/>
              <a:t>waveguide</a:t>
            </a:r>
            <a:endParaRPr lang="es-ES" noProof="0"/>
          </a:p>
          <a:p>
            <a:pPr algn="ctr"/>
            <a:endParaRPr lang="es-ES" noProof="0"/>
          </a:p>
          <a:p>
            <a:pPr algn="ctr"/>
            <a:r>
              <a:rPr lang="es-ES" noProof="0"/>
              <a:t>Paste </a:t>
            </a:r>
            <a:r>
              <a:rPr lang="es-ES" noProof="0" err="1"/>
              <a:t>plot</a:t>
            </a:r>
            <a:r>
              <a:rPr lang="es-ES" noProof="0"/>
              <a:t> </a:t>
            </a:r>
            <a:r>
              <a:rPr lang="es-ES" noProof="0" err="1"/>
              <a:t>here</a:t>
            </a:r>
            <a:endParaRPr lang="es-ES" noProof="0"/>
          </a:p>
        </p:txBody>
      </p:sp>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s-ES" noProof="0" err="1"/>
              <a:t>slab</a:t>
            </a:r>
            <a:r>
              <a:rPr lang="es-ES" noProof="0"/>
              <a:t> = 150nm</a:t>
            </a:r>
          </a:p>
        </p:txBody>
      </p:sp>
      <p:pic>
        <p:nvPicPr>
          <p:cNvPr id="12" name="Imagen 11" descr="Gráfico, Gráfico de líneas&#10;&#10;El contenido generado por IA puede ser incorrecto.">
            <a:extLst>
              <a:ext uri="{FF2B5EF4-FFF2-40B4-BE49-F238E27FC236}">
                <a16:creationId xmlns:a16="http://schemas.microsoft.com/office/drawing/2014/main" id="{712CE68E-9C42-2E40-0F93-BF1340494779}"/>
              </a:ext>
            </a:extLst>
          </p:cNvPr>
          <p:cNvPicPr>
            <a:picLocks noChangeAspect="1"/>
          </p:cNvPicPr>
          <p:nvPr/>
        </p:nvPicPr>
        <p:blipFill>
          <a:blip r:embed="rId5"/>
          <a:stretch>
            <a:fillRect/>
          </a:stretch>
        </p:blipFill>
        <p:spPr>
          <a:xfrm>
            <a:off x="6581553" y="1475438"/>
            <a:ext cx="5123146" cy="2988502"/>
          </a:xfrm>
          <a:prstGeom prst="rect">
            <a:avLst/>
          </a:prstGeom>
        </p:spPr>
      </p:pic>
      <p:pic>
        <p:nvPicPr>
          <p:cNvPr id="10" name="Imagen 9" descr="Gráfico, Gráfico de líneas&#10;&#10;El contenido generado por IA puede ser incorrecto.">
            <a:extLst>
              <a:ext uri="{FF2B5EF4-FFF2-40B4-BE49-F238E27FC236}">
                <a16:creationId xmlns:a16="http://schemas.microsoft.com/office/drawing/2014/main" id="{BFE957C5-23EC-9229-C897-2BCDFB1F03BC}"/>
              </a:ext>
            </a:extLst>
          </p:cNvPr>
          <p:cNvPicPr>
            <a:picLocks noChangeAspect="1"/>
          </p:cNvPicPr>
          <p:nvPr/>
        </p:nvPicPr>
        <p:blipFill>
          <a:blip r:embed="rId6"/>
          <a:stretch>
            <a:fillRect/>
          </a:stretch>
        </p:blipFill>
        <p:spPr>
          <a:xfrm>
            <a:off x="642989" y="1416378"/>
            <a:ext cx="5123146" cy="2988502"/>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9C95F6BA-FF39-67B3-9B5D-E288A1B87606}"/>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11B90BC6-83FA-AC0B-2D69-F118C9EF3A9F}"/>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6" name="Rectángulo 5">
            <a:extLst>
              <a:ext uri="{FF2B5EF4-FFF2-40B4-BE49-F238E27FC236}">
                <a16:creationId xmlns:a16="http://schemas.microsoft.com/office/drawing/2014/main" id="{D7D45D19-0BD9-3B98-A7C9-56051FC576BE}"/>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8" name="CuadroTexto 7">
            <a:extLst>
              <a:ext uri="{FF2B5EF4-FFF2-40B4-BE49-F238E27FC236}">
                <a16:creationId xmlns:a16="http://schemas.microsoft.com/office/drawing/2014/main" id="{6FC79FDB-5B23-96C4-1DCF-77D35A2F2701}"/>
              </a:ext>
            </a:extLst>
          </p:cNvPr>
          <p:cNvSpPr txBox="1"/>
          <p:nvPr/>
        </p:nvSpPr>
        <p:spPr>
          <a:xfrm>
            <a:off x="956930" y="977462"/>
            <a:ext cx="10348380" cy="2585323"/>
          </a:xfrm>
          <a:prstGeom prst="rect">
            <a:avLst/>
          </a:prstGeom>
          <a:noFill/>
        </p:spPr>
        <p:txBody>
          <a:bodyPr wrap="square" rtlCol="0">
            <a:spAutoFit/>
          </a:bodyPr>
          <a:lstStyle/>
          <a:p>
            <a:r>
              <a:rPr lang="es-ES" sz="1200">
                <a:solidFill>
                  <a:srgbClr val="000000"/>
                </a:solidFill>
                <a:latin typeface="Arial" panose="020B0604020202020204" pitchFamily="34" charset="0"/>
                <a:cs typeface="Arial" panose="020B0604020202020204" pitchFamily="34" charset="0"/>
              </a:rPr>
              <a:t>Para que un modo se propague, es decir, que quede atrapado en el Silicio, su </a:t>
            </a:r>
            <a:r>
              <a:rPr lang="es-ES" sz="1200" err="1">
                <a:solidFill>
                  <a:srgbClr val="000000"/>
                </a:solidFill>
                <a:latin typeface="Arial" panose="020B0604020202020204" pitchFamily="34" charset="0"/>
                <a:cs typeface="Arial" panose="020B0604020202020204" pitchFamily="34" charset="0"/>
              </a:rPr>
              <a:t>neff</a:t>
            </a:r>
            <a:r>
              <a:rPr lang="es-ES" sz="1200">
                <a:solidFill>
                  <a:srgbClr val="000000"/>
                </a:solidFill>
                <a:latin typeface="Arial" panose="020B0604020202020204" pitchFamily="34" charset="0"/>
                <a:cs typeface="Arial" panose="020B0604020202020204" pitchFamily="34" charset="0"/>
              </a:rPr>
              <a:t> debe ser mayor que este. Es por esto que el modo </a:t>
            </a:r>
            <a:r>
              <a:rPr lang="es-ES" sz="1200" err="1">
                <a:solidFill>
                  <a:srgbClr val="000000"/>
                </a:solidFill>
                <a:latin typeface="Arial" panose="020B0604020202020204" pitchFamily="34" charset="0"/>
                <a:cs typeface="Arial" panose="020B0604020202020204" pitchFamily="34" charset="0"/>
              </a:rPr>
              <a:t>shallow</a:t>
            </a:r>
            <a:r>
              <a:rPr lang="es-ES" sz="1200">
                <a:solidFill>
                  <a:srgbClr val="000000"/>
                </a:solidFill>
                <a:latin typeface="Arial" panose="020B0604020202020204" pitchFamily="34" charset="0"/>
                <a:cs typeface="Arial" panose="020B0604020202020204" pitchFamily="34" charset="0"/>
              </a:rPr>
              <a:t> es capaz de propagar todos los modos confinados y el modo Deep solo es capaz de propagar los dos primeros modos. </a:t>
            </a:r>
          </a:p>
          <a:p>
            <a:endParaRPr lang="es-ES" sz="1200">
              <a:solidFill>
                <a:srgbClr val="000000"/>
              </a:solidFill>
              <a:latin typeface="Arial" panose="020B0604020202020204" pitchFamily="34" charset="0"/>
              <a:cs typeface="Arial" panose="020B0604020202020204" pitchFamily="34" charset="0"/>
            </a:endParaRPr>
          </a:p>
          <a:p>
            <a:endParaRPr lang="es-ES" sz="1200">
              <a:solidFill>
                <a:srgbClr val="000000"/>
              </a:solidFill>
              <a:latin typeface="Arial" panose="020B0604020202020204" pitchFamily="34" charset="0"/>
              <a:cs typeface="Arial" panose="020B0604020202020204" pitchFamily="34" charset="0"/>
            </a:endParaRPr>
          </a:p>
          <a:p>
            <a:pPr algn="just"/>
            <a:r>
              <a:rPr lang="es-ES" sz="1200" i="0" u="none" strike="noStrike">
                <a:solidFill>
                  <a:srgbClr val="000000"/>
                </a:solidFill>
                <a:effectLst/>
                <a:latin typeface="Arial" panose="020B0604020202020204" pitchFamily="34" charset="0"/>
                <a:cs typeface="Arial" panose="020B0604020202020204" pitchFamily="34" charset="0"/>
              </a:rPr>
              <a:t>Al analizar el comportamiento </a:t>
            </a:r>
            <a:r>
              <a:rPr lang="es-ES" sz="1200">
                <a:solidFill>
                  <a:srgbClr val="000000"/>
                </a:solidFill>
                <a:latin typeface="Arial" panose="020B0604020202020204" pitchFamily="34" charset="0"/>
                <a:cs typeface="Arial" panose="020B0604020202020204" pitchFamily="34" charset="0"/>
              </a:rPr>
              <a:t>teniendo en cuenta que se trata de un </a:t>
            </a:r>
            <a:r>
              <a:rPr lang="es-ES" sz="1200" i="0" u="none" strike="noStrike">
                <a:solidFill>
                  <a:srgbClr val="000000"/>
                </a:solidFill>
                <a:effectLst/>
                <a:latin typeface="Arial" panose="020B0604020202020204" pitchFamily="34" charset="0"/>
                <a:cs typeface="Arial" panose="020B0604020202020204" pitchFamily="34" charset="0"/>
              </a:rPr>
              <a:t>monomodo, se observa que la guía Deep </a:t>
            </a:r>
            <a:r>
              <a:rPr lang="es-ES" sz="1200">
                <a:solidFill>
                  <a:srgbClr val="000000"/>
                </a:solidFill>
                <a:latin typeface="Arial" panose="020B0604020202020204" pitchFamily="34" charset="0"/>
                <a:cs typeface="Arial" panose="020B0604020202020204" pitchFamily="34" charset="0"/>
              </a:rPr>
              <a:t>es capaz de llevar a cabo esta función ya que se puede transmitir con el modo TE o el modo TM, ya que el resto no están confinados. </a:t>
            </a:r>
            <a:r>
              <a:rPr lang="es-ES" sz="1200" i="0" u="none" strike="noStrike">
                <a:solidFill>
                  <a:srgbClr val="000000"/>
                </a:solidFill>
                <a:effectLst/>
                <a:latin typeface="Arial" panose="020B0604020202020204" pitchFamily="34" charset="0"/>
                <a:cs typeface="Arial" panose="020B0604020202020204" pitchFamily="34" charset="0"/>
              </a:rPr>
              <a:t>Por el contrario, la guía </a:t>
            </a:r>
            <a:r>
              <a:rPr lang="es-ES" sz="1200" i="0" u="none" strike="noStrike" err="1">
                <a:solidFill>
                  <a:srgbClr val="000000"/>
                </a:solidFill>
                <a:effectLst/>
                <a:latin typeface="Arial" panose="020B0604020202020204" pitchFamily="34" charset="0"/>
                <a:cs typeface="Arial" panose="020B0604020202020204" pitchFamily="34" charset="0"/>
              </a:rPr>
              <a:t>Shallow</a:t>
            </a:r>
            <a:r>
              <a:rPr lang="es-ES" sz="1200" i="0" u="none" strike="noStrike">
                <a:solidFill>
                  <a:srgbClr val="000000"/>
                </a:solidFill>
                <a:effectLst/>
                <a:latin typeface="Arial" panose="020B0604020202020204" pitchFamily="34" charset="0"/>
                <a:cs typeface="Arial" panose="020B0604020202020204" pitchFamily="34" charset="0"/>
              </a:rPr>
              <a:t> se comporta como una guía multimodo, permitiendo la propagación de todos los modos analizados (del 0 al 3). Esto resulta contraproducente para la integridad de la señal, ya que introduce dispersión intermodal (diferencias de velocidad de grupo que generan desfases temporales) y favorece el acoplamiento (</a:t>
            </a:r>
            <a:r>
              <a:rPr lang="es-ES" sz="1200" i="0" u="none" strike="noStrike" err="1">
                <a:solidFill>
                  <a:srgbClr val="000000"/>
                </a:solidFill>
                <a:effectLst/>
                <a:latin typeface="Arial" panose="020B0604020202020204" pitchFamily="34" charset="0"/>
                <a:cs typeface="Arial" panose="020B0604020202020204" pitchFamily="34" charset="0"/>
              </a:rPr>
              <a:t>crosstalk</a:t>
            </a:r>
            <a:r>
              <a:rPr lang="es-ES" sz="1200" i="0" u="none" strike="noStrike">
                <a:solidFill>
                  <a:srgbClr val="000000"/>
                </a:solidFill>
                <a:effectLst/>
                <a:latin typeface="Arial" panose="020B0604020202020204" pitchFamily="34" charset="0"/>
                <a:cs typeface="Arial" panose="020B0604020202020204" pitchFamily="34" charset="0"/>
              </a:rPr>
              <a:t>) entre modos, degradando la información a la salida. Para comprobar este acoplamiento se ha visualizado el modo TE de la guía </a:t>
            </a:r>
            <a:r>
              <a:rPr lang="es-ES" sz="1200" i="0" u="none" strike="noStrike" err="1">
                <a:solidFill>
                  <a:srgbClr val="000000"/>
                </a:solidFill>
                <a:effectLst/>
                <a:latin typeface="Arial" panose="020B0604020202020204" pitchFamily="34" charset="0"/>
                <a:cs typeface="Arial" panose="020B0604020202020204" pitchFamily="34" charset="0"/>
              </a:rPr>
              <a:t>shallow</a:t>
            </a:r>
            <a:r>
              <a:rPr lang="es-ES" sz="1200" i="0" u="none" strike="noStrike">
                <a:solidFill>
                  <a:srgbClr val="000000"/>
                </a:solidFill>
                <a:effectLst/>
                <a:latin typeface="Arial" panose="020B0604020202020204" pitchFamily="34" charset="0"/>
                <a:cs typeface="Arial" panose="020B0604020202020204" pitchFamily="34" charset="0"/>
              </a:rPr>
              <a:t> (imagen adjuntada en esta diapositiva). En esta imagen se observa que la polarización del Modo 0 se identifica claramente como un modo fundamental TE. Sin embargo, el Modo 1 presenta una naturaleza más híbrida, siendo el 70% TE y 30% TM, tratándose de valores muy dispersos que dificultarían en exceso una propagación limpia.</a:t>
            </a:r>
            <a:endParaRPr lang="es-ES" sz="1200">
              <a:solidFill>
                <a:srgbClr val="000000"/>
              </a:solidFill>
              <a:latin typeface="Arial" panose="020B0604020202020204" pitchFamily="34" charset="0"/>
              <a:cs typeface="Arial" panose="020B0604020202020204" pitchFamily="34" charset="0"/>
            </a:endParaRPr>
          </a:p>
          <a:p>
            <a:endParaRPr lang="es-ES"/>
          </a:p>
        </p:txBody>
      </p:sp>
      <p:pic>
        <p:nvPicPr>
          <p:cNvPr id="3" name="Imagen 2">
            <a:extLst>
              <a:ext uri="{FF2B5EF4-FFF2-40B4-BE49-F238E27FC236}">
                <a16:creationId xmlns:a16="http://schemas.microsoft.com/office/drawing/2014/main" id="{4A210EAE-8086-DE4E-363B-C0F4B8137B89}"/>
              </a:ext>
            </a:extLst>
          </p:cNvPr>
          <p:cNvPicPr>
            <a:picLocks noChangeAspect="1"/>
          </p:cNvPicPr>
          <p:nvPr/>
        </p:nvPicPr>
        <p:blipFill>
          <a:blip r:embed="rId2"/>
          <a:stretch>
            <a:fillRect/>
          </a:stretch>
        </p:blipFill>
        <p:spPr>
          <a:xfrm>
            <a:off x="1330179" y="4149525"/>
            <a:ext cx="9758493" cy="802914"/>
          </a:xfrm>
          <a:prstGeom prst="rect">
            <a:avLst/>
          </a:prstGeom>
        </p:spPr>
      </p:pic>
    </p:spTree>
    <p:extLst>
      <p:ext uri="{BB962C8B-B14F-4D97-AF65-F5344CB8AC3E}">
        <p14:creationId xmlns:p14="http://schemas.microsoft.com/office/powerpoint/2010/main" val="806622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ES" sz="2500" noProof="0" err="1"/>
              <a:t>Learning</a:t>
            </a:r>
            <a:r>
              <a:rPr lang="es-ES" sz="2500" noProof="0"/>
              <a:t> </a:t>
            </a:r>
            <a:r>
              <a:rPr lang="es-ES" sz="2500" noProof="0" err="1"/>
              <a:t>outcome</a:t>
            </a:r>
            <a:r>
              <a:rPr lang="es-ES" sz="2500" noProof="0"/>
              <a:t> #3 – </a:t>
            </a:r>
            <a:r>
              <a:rPr lang="es-ES" sz="2500" noProof="0" err="1"/>
              <a:t>Width</a:t>
            </a:r>
            <a:r>
              <a:rPr lang="es-ES" sz="2500" noProof="0"/>
              <a:t> </a:t>
            </a:r>
            <a:r>
              <a:rPr lang="es-ES" sz="2500" noProof="0" err="1"/>
              <a:t>dependence</a:t>
            </a:r>
            <a:br>
              <a:rPr lang="es-ES" sz="2500" spc="-5" noProof="0">
                <a:latin typeface="+mj-lt"/>
                <a:cs typeface="Lucida Sans"/>
              </a:rPr>
            </a:br>
            <a:r>
              <a:rPr lang="es-ES" b="0" noProof="0" err="1"/>
              <a:t>Width</a:t>
            </a:r>
            <a:r>
              <a:rPr lang="es-ES" b="0" noProof="0"/>
              <a:t> 0.6 - 1.6 µm (step 0.1 µm) – </a:t>
            </a:r>
            <a:r>
              <a:rPr lang="es-ES" b="0" noProof="0" err="1"/>
              <a:t>Wavelength</a:t>
            </a:r>
            <a:r>
              <a:rPr lang="es-ES" b="0" noProof="0"/>
              <a:t> 1.55 µm </a:t>
            </a:r>
            <a:endParaRPr lang="es-ES" sz="2500" b="0" noProof="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noProof="0" smtClean="0"/>
              <a:t>12</a:t>
            </a:fld>
            <a:endParaRPr lang="es-ES" noProof="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noProof="0"/>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a:latin typeface="Arial" panose="020B0604020202020204" pitchFamily="34" charset="0"/>
                <a:cs typeface="Arial" panose="020B0604020202020204" pitchFamily="34" charset="0"/>
              </a:rPr>
              <a:t>A medida que el ancho de la guía de onda aumenta de 0.6 µm a 1.6 µm, el índice efectivo incrementa debido a un mayor confinamiento lateral del modo óptico dentro del núcleo. Para anchos pequeños, se guían los primeros dos modos (líneas azul y naranja), mientras que al aumentar el ancho comienzan a aparecer modos de orden superior. El análisis de polarización muestra que el modo 0 se mantiene principalmente de tipo TE en todo el barrido, mientras que los modos superiores pueden presentar características mixtas o más cercanas a TM. Por lo que se afirma que el ancho de la guía de onda influye en el confinamiento, el índice efectivo y el número de modos soportados.</a:t>
            </a: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s-ES" b="1" noProof="0" err="1"/>
              <a:t>deep</a:t>
            </a:r>
            <a:r>
              <a:rPr lang="es-ES" noProof="0"/>
              <a:t> </a:t>
            </a:r>
            <a:r>
              <a:rPr lang="es-ES" noProof="0" err="1"/>
              <a:t>waveguide</a:t>
            </a:r>
            <a:endParaRPr lang="es-ES" noProof="0"/>
          </a:p>
          <a:p>
            <a:pPr algn="ctr"/>
            <a:endParaRPr lang="es-ES" noProof="0"/>
          </a:p>
          <a:p>
            <a:pPr algn="ctr"/>
            <a:r>
              <a:rPr lang="es-ES" noProof="0"/>
              <a:t>Paste </a:t>
            </a:r>
            <a:r>
              <a:rPr lang="es-ES" noProof="0" err="1"/>
              <a:t>plot</a:t>
            </a:r>
            <a:r>
              <a:rPr lang="es-ES" noProof="0"/>
              <a:t> </a:t>
            </a:r>
            <a:r>
              <a:rPr lang="es-ES" noProof="0" err="1"/>
              <a:t>here</a:t>
            </a:r>
            <a:endParaRPr lang="es-ES" noProof="0"/>
          </a:p>
        </p:txBody>
      </p:sp>
      <p:pic>
        <p:nvPicPr>
          <p:cNvPr id="5" name="Imagen 4" descr="Gráfico, Gráfico de líneas&#10;&#10;El contenido generado por IA puede ser incorrecto.">
            <a:extLst>
              <a:ext uri="{FF2B5EF4-FFF2-40B4-BE49-F238E27FC236}">
                <a16:creationId xmlns:a16="http://schemas.microsoft.com/office/drawing/2014/main" id="{3918F566-9DC4-61E5-4814-44019D7F566F}"/>
              </a:ext>
            </a:extLst>
          </p:cNvPr>
          <p:cNvPicPr>
            <a:picLocks noChangeAspect="1"/>
          </p:cNvPicPr>
          <p:nvPr/>
        </p:nvPicPr>
        <p:blipFill>
          <a:blip r:embed="rId5"/>
          <a:stretch>
            <a:fillRect/>
          </a:stretch>
        </p:blipFill>
        <p:spPr>
          <a:xfrm>
            <a:off x="2912623" y="1468992"/>
            <a:ext cx="5571905" cy="3243645"/>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s-ES" sz="2500" noProof="0" err="1"/>
              <a:t>Learning</a:t>
            </a:r>
            <a:r>
              <a:rPr lang="es-ES" sz="2500" noProof="0"/>
              <a:t> </a:t>
            </a:r>
            <a:r>
              <a:rPr lang="es-ES" sz="2500" noProof="0" err="1"/>
              <a:t>outcome</a:t>
            </a:r>
            <a:r>
              <a:rPr lang="es-ES" sz="2500" noProof="0"/>
              <a:t> #4 – </a:t>
            </a:r>
            <a:r>
              <a:rPr lang="es-ES" sz="2500" noProof="0" err="1"/>
              <a:t>Waveguide</a:t>
            </a:r>
            <a:r>
              <a:rPr lang="es-ES" sz="2500" noProof="0"/>
              <a:t> compact </a:t>
            </a:r>
            <a:r>
              <a:rPr lang="es-ES" sz="2500" noProof="0" err="1"/>
              <a:t>model</a:t>
            </a:r>
            <a:br>
              <a:rPr lang="es-ES" sz="2500" spc="-5" noProof="0">
                <a:latin typeface="+mj-lt"/>
                <a:cs typeface="Lucida Sans"/>
              </a:rPr>
            </a:br>
            <a:r>
              <a:rPr lang="es-ES" b="0" noProof="0"/>
              <a:t>- </a:t>
            </a:r>
            <a:r>
              <a:rPr lang="es-ES" b="0" noProof="0" err="1"/>
              <a:t>Find</a:t>
            </a:r>
            <a:r>
              <a:rPr lang="es-ES" b="0" noProof="0"/>
              <a:t> </a:t>
            </a:r>
            <a:r>
              <a:rPr lang="es-ES" b="0" noProof="0" err="1"/>
              <a:t>the</a:t>
            </a:r>
            <a:r>
              <a:rPr lang="es-ES" b="0" noProof="0"/>
              <a:t> compact </a:t>
            </a:r>
            <a:r>
              <a:rPr lang="es-ES" b="0" noProof="0" err="1"/>
              <a:t>models</a:t>
            </a:r>
            <a:r>
              <a:rPr lang="es-ES" b="0" noProof="0"/>
              <a:t> </a:t>
            </a:r>
            <a:r>
              <a:rPr lang="es-ES" b="0" noProof="0" err="1"/>
              <a:t>of</a:t>
            </a:r>
            <a:r>
              <a:rPr lang="es-ES" b="0" noProof="0"/>
              <a:t> </a:t>
            </a:r>
            <a:r>
              <a:rPr lang="es-ES" b="0" noProof="0" err="1"/>
              <a:t>the</a:t>
            </a:r>
            <a:r>
              <a:rPr lang="es-ES" b="0" noProof="0"/>
              <a:t> </a:t>
            </a:r>
            <a:r>
              <a:rPr lang="es-ES" b="0" noProof="0" err="1"/>
              <a:t>following</a:t>
            </a:r>
            <a:r>
              <a:rPr lang="es-ES" b="0" noProof="0"/>
              <a:t> </a:t>
            </a:r>
            <a:r>
              <a:rPr lang="es-ES" b="0" noProof="0" err="1"/>
              <a:t>waveguides</a:t>
            </a:r>
            <a:r>
              <a:rPr lang="es-ES" b="0" noProof="0"/>
              <a:t>: </a:t>
            </a:r>
            <a:br>
              <a:rPr lang="es-ES" b="0" noProof="0"/>
            </a:br>
            <a:r>
              <a:rPr lang="es-ES" noProof="0"/>
              <a:t>Deep</a:t>
            </a:r>
            <a:r>
              <a:rPr lang="es-ES" b="0" noProof="0"/>
              <a:t> </a:t>
            </a:r>
            <a:r>
              <a:rPr lang="es-ES" b="0" noProof="0" err="1"/>
              <a:t>waveguide</a:t>
            </a:r>
            <a:r>
              <a:rPr lang="es-ES" b="0" noProof="0"/>
              <a:t>, h=300nm, w=1.2um   - </a:t>
            </a:r>
            <a:r>
              <a:rPr lang="es-ES" noProof="0" err="1"/>
              <a:t>Shallow</a:t>
            </a:r>
            <a:r>
              <a:rPr lang="es-ES" b="0" noProof="0"/>
              <a:t> </a:t>
            </a:r>
            <a:r>
              <a:rPr lang="es-ES" b="0" noProof="0" err="1"/>
              <a:t>waveguide</a:t>
            </a:r>
            <a:r>
              <a:rPr lang="es-ES" b="0" noProof="0"/>
              <a:t>, </a:t>
            </a:r>
            <a:r>
              <a:rPr lang="es-ES" b="0" noProof="0" err="1"/>
              <a:t>core</a:t>
            </a:r>
            <a:r>
              <a:rPr lang="es-ES" b="0" noProof="0"/>
              <a:t> h=300nm, </a:t>
            </a:r>
            <a:r>
              <a:rPr lang="es-ES" b="0" noProof="0" err="1"/>
              <a:t>slab</a:t>
            </a:r>
            <a:r>
              <a:rPr lang="es-ES" b="0" noProof="0"/>
              <a:t> h=150 nm, w = 1.2um </a:t>
            </a:r>
            <a:br>
              <a:rPr lang="es-ES" b="0" noProof="0"/>
            </a:br>
            <a:endParaRPr lang="es-ES" sz="2500" b="0" noProof="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noProof="0" smtClean="0"/>
              <a:t>13</a:t>
            </a:fld>
            <a:endParaRPr lang="es-ES" noProof="0"/>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noProof="0"/>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478738"/>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Find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second-degree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polynomial</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coefficients</a:t>
                </a:r>
                <a:r>
                  <a:rPr lang="es-ES" sz="1200" noProof="0" dirty="0">
                    <a:latin typeface="Arial" panose="020B0604020202020204" pitchFamily="34" charset="0"/>
                    <a:cs typeface="Arial" panose="020B0604020202020204" pitchFamily="34" charset="0"/>
                  </a:rPr>
                  <a:t> and relate </a:t>
                </a:r>
                <a:r>
                  <a:rPr lang="es-ES" sz="1200" noProof="0" dirty="0" err="1">
                    <a:latin typeface="Arial" panose="020B0604020202020204" pitchFamily="34" charset="0"/>
                    <a:cs typeface="Arial" panose="020B0604020202020204" pitchFamily="34" charset="0"/>
                  </a:rPr>
                  <a:t>them</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with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group</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index</a:t>
                </a:r>
                <a:r>
                  <a:rPr lang="es-ES" sz="1200" noProof="0" dirty="0">
                    <a:latin typeface="Arial" panose="020B0604020202020204" pitchFamily="34" charset="0"/>
                    <a:cs typeface="Arial" panose="020B0604020202020204" pitchFamily="34" charset="0"/>
                  </a:rPr>
                  <a:t> and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dispersion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parameter</a:t>
                </a:r>
                <a:r>
                  <a:rPr lang="es-ES" sz="1200" noProof="0" dirty="0">
                    <a:latin typeface="Arial" panose="020B0604020202020204" pitchFamily="34" charset="0"/>
                    <a:cs typeface="Arial" panose="020B0604020202020204" pitchFamily="34" charset="0"/>
                  </a:rPr>
                  <a:t>. </a:t>
                </a:r>
                <a14:m>
                  <m:oMath xmlns:m="http://schemas.openxmlformats.org/officeDocument/2006/math">
                    <m:d>
                      <m:dPr>
                        <m:begChr m:val="{"/>
                        <m:endChr m:val=""/>
                        <m:ctrlPr>
                          <a:rPr lang="es-ES" sz="1200" b="0" i="1" noProof="0" smtClean="0">
                            <a:latin typeface="Cambria Math" panose="02040503050406030204" pitchFamily="18" charset="0"/>
                            <a:cs typeface="Arial" panose="020B0604020202020204" pitchFamily="34" charset="0"/>
                          </a:rPr>
                        </m:ctrlPr>
                      </m:dPr>
                      <m:e>
                        <m:eqArr>
                          <m:eqArrPr>
                            <m:ctrlPr>
                              <a:rPr lang="es-ES" sz="1200" b="0" i="1" noProof="0" smtClean="0">
                                <a:latin typeface="Cambria Math" panose="02040503050406030204" pitchFamily="18" charset="0"/>
                                <a:cs typeface="Arial" panose="020B0604020202020204" pitchFamily="34" charset="0"/>
                              </a:rPr>
                            </m:ctrlPr>
                          </m:eqArrPr>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𝑒𝑓𝑓</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e>
                          <m:e>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𝑔</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1</m:t>
                                </m:r>
                              </m:sub>
                            </m:sSub>
                            <m:r>
                              <a:rPr lang="es-ES" sz="1200" b="0" i="1" noProof="0" smtClean="0">
                                <a:latin typeface="Cambria Math" panose="02040503050406030204" pitchFamily="18" charset="0"/>
                                <a:cs typeface="Arial" panose="020B0604020202020204" pitchFamily="34" charset="0"/>
                              </a:rPr>
                              <m:t>−</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2</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e>
                          <m:e>
                            <m:r>
                              <a:rPr lang="es-ES" sz="1200" b="0" i="1" noProof="0" smtClean="0">
                                <a:latin typeface="Cambria Math" panose="02040503050406030204" pitchFamily="18" charset="0"/>
                                <a:cs typeface="Arial" panose="020B0604020202020204" pitchFamily="34" charset="0"/>
                              </a:rPr>
                              <m:t>𝐷</m:t>
                            </m:r>
                            <m:r>
                              <a:rPr lang="es-ES" sz="1200" b="0" i="1" noProof="0" smtClean="0">
                                <a:latin typeface="Cambria Math" panose="02040503050406030204" pitchFamily="18" charset="0"/>
                                <a:cs typeface="Arial" panose="020B0604020202020204" pitchFamily="34" charset="0"/>
                              </a:rPr>
                              <m:t>=−</m:t>
                            </m:r>
                            <m:f>
                              <m:fPr>
                                <m:ctrlPr>
                                  <a:rPr lang="es-ES" sz="1200" b="0" i="1" noProof="0" smtClean="0">
                                    <a:latin typeface="Cambria Math" panose="02040503050406030204" pitchFamily="18" charset="0"/>
                                    <a:cs typeface="Arial" panose="020B0604020202020204" pitchFamily="34" charset="0"/>
                                  </a:rPr>
                                </m:ctrlPr>
                              </m:fPr>
                              <m:num>
                                <m:r>
                                  <a:rPr lang="es-ES" sz="1200" b="0" i="1" noProof="0" smtClean="0">
                                    <a:latin typeface="Cambria Math" panose="02040503050406030204" pitchFamily="18" charset="0"/>
                                    <a:cs typeface="Arial" panose="020B0604020202020204" pitchFamily="34" charset="0"/>
                                  </a:rPr>
                                  <m:t>2</m:t>
                                </m:r>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𝜆</m:t>
                                    </m:r>
                                  </m:e>
                                  <m:sub>
                                    <m:r>
                                      <a:rPr lang="es-ES" sz="1200" b="0" i="1" noProof="0" smtClean="0">
                                        <a:latin typeface="Cambria Math" panose="02040503050406030204" pitchFamily="18" charset="0"/>
                                        <a:cs typeface="Arial" panose="020B0604020202020204" pitchFamily="34" charset="0"/>
                                      </a:rPr>
                                      <m:t>0</m:t>
                                    </m:r>
                                  </m:sub>
                                </m:sSub>
                                <m:sSub>
                                  <m:sSubPr>
                                    <m:ctrlPr>
                                      <a:rPr lang="es-ES" sz="1200" b="0" i="1" noProof="0" smtClean="0">
                                        <a:latin typeface="Cambria Math" panose="02040503050406030204" pitchFamily="18" charset="0"/>
                                        <a:cs typeface="Arial" panose="020B0604020202020204" pitchFamily="34" charset="0"/>
                                      </a:rPr>
                                    </m:ctrlPr>
                                  </m:sSubPr>
                                  <m:e>
                                    <m:r>
                                      <a:rPr lang="es-ES" sz="1200" b="0" i="1" noProof="0" smtClean="0">
                                        <a:latin typeface="Cambria Math" panose="02040503050406030204" pitchFamily="18" charset="0"/>
                                        <a:cs typeface="Arial" panose="020B0604020202020204" pitchFamily="34" charset="0"/>
                                      </a:rPr>
                                      <m:t>𝑛</m:t>
                                    </m:r>
                                  </m:e>
                                  <m:sub>
                                    <m:r>
                                      <a:rPr lang="es-ES" sz="1200" b="0" i="1" noProof="0" smtClean="0">
                                        <a:latin typeface="Cambria Math" panose="02040503050406030204" pitchFamily="18" charset="0"/>
                                        <a:cs typeface="Arial" panose="020B0604020202020204" pitchFamily="34" charset="0"/>
                                      </a:rPr>
                                      <m:t>3</m:t>
                                    </m:r>
                                  </m:sub>
                                </m:sSub>
                              </m:num>
                              <m:den>
                                <m:r>
                                  <a:rPr lang="es-ES" sz="1200" b="0" i="1" noProof="0" smtClean="0">
                                    <a:latin typeface="Cambria Math" panose="02040503050406030204" pitchFamily="18" charset="0"/>
                                    <a:cs typeface="Arial" panose="020B0604020202020204" pitchFamily="34" charset="0"/>
                                  </a:rPr>
                                  <m:t>𝑐</m:t>
                                </m:r>
                              </m:den>
                            </m:f>
                            <m:d>
                              <m:dPr>
                                <m:begChr m:val="["/>
                                <m:endChr m:val="]"/>
                                <m:ctrlPr>
                                  <a:rPr lang="es-ES" sz="1200" b="0" i="1" noProof="0" smtClean="0">
                                    <a:latin typeface="Cambria Math" panose="02040503050406030204" pitchFamily="18" charset="0"/>
                                    <a:cs typeface="Arial" panose="020B0604020202020204" pitchFamily="34" charset="0"/>
                                  </a:rPr>
                                </m:ctrlPr>
                              </m:dPr>
                              <m:e>
                                <m:f>
                                  <m:fPr>
                                    <m:ctrlPr>
                                      <a:rPr lang="es-ES" sz="1200" b="0" i="1" noProof="0" smtClean="0">
                                        <a:latin typeface="Cambria Math" panose="02040503050406030204" pitchFamily="18" charset="0"/>
                                        <a:cs typeface="Arial" panose="020B0604020202020204" pitchFamily="34" charset="0"/>
                                      </a:rPr>
                                    </m:ctrlPr>
                                  </m:fPr>
                                  <m:num>
                                    <m:sSup>
                                      <m:sSupPr>
                                        <m:ctrlPr>
                                          <a:rPr lang="es-ES" sz="1200" b="0" i="1" noProof="0" smtClean="0">
                                            <a:latin typeface="Cambria Math" panose="02040503050406030204" pitchFamily="18" charset="0"/>
                                            <a:cs typeface="Arial" panose="020B0604020202020204" pitchFamily="34" charset="0"/>
                                          </a:rPr>
                                        </m:ctrlPr>
                                      </m:sSupPr>
                                      <m:e>
                                        <m:r>
                                          <a:rPr lang="es-ES" sz="1200" b="0" i="1" noProof="0" smtClean="0">
                                            <a:latin typeface="Cambria Math" panose="02040503050406030204" pitchFamily="18" charset="0"/>
                                            <a:cs typeface="Arial" panose="020B0604020202020204" pitchFamily="34" charset="0"/>
                                          </a:rPr>
                                          <m:t>𝑠</m:t>
                                        </m:r>
                                      </m:e>
                                      <m:sup>
                                        <m:r>
                                          <a:rPr lang="es-ES" sz="1200" b="0" i="1" noProof="0" smtClean="0">
                                            <a:latin typeface="Cambria Math" panose="02040503050406030204" pitchFamily="18" charset="0"/>
                                            <a:cs typeface="Arial" panose="020B0604020202020204" pitchFamily="34" charset="0"/>
                                          </a:rPr>
                                          <m:t>2</m:t>
                                        </m:r>
                                      </m:sup>
                                    </m:sSup>
                                  </m:num>
                                  <m:den>
                                    <m:r>
                                      <a:rPr lang="es-ES" sz="1200" b="0" i="1" noProof="0" smtClean="0">
                                        <a:latin typeface="Cambria Math" panose="02040503050406030204" pitchFamily="18" charset="0"/>
                                        <a:cs typeface="Arial" panose="020B0604020202020204" pitchFamily="34" charset="0"/>
                                      </a:rPr>
                                      <m:t>𝑚</m:t>
                                    </m:r>
                                  </m:den>
                                </m:f>
                              </m:e>
                            </m:d>
                          </m:e>
                        </m:eqArr>
                      </m:e>
                    </m:d>
                  </m:oMath>
                </a14:m>
                <a:endParaRPr lang="es-ES" sz="1200" b="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 </a:t>
                </a:r>
              </a:p>
              <a:p>
                <a:pPr algn="just"/>
                <a:r>
                  <a:rPr lang="es-ES" sz="1200" noProof="0" dirty="0" err="1">
                    <a:latin typeface="Arial" panose="020B0604020202020204" pitchFamily="34" charset="0"/>
                    <a:cs typeface="Arial" panose="020B0604020202020204" pitchFamily="34" charset="0"/>
                  </a:rPr>
                  <a:t>Comment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on</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found</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TE0 and TM0 </a:t>
                </a:r>
                <a:r>
                  <a:rPr lang="es-ES" sz="1200" noProof="0" dirty="0" err="1">
                    <a:latin typeface="Arial" panose="020B0604020202020204" pitchFamily="34" charset="0"/>
                    <a:cs typeface="Arial" panose="020B0604020202020204" pitchFamily="34" charset="0"/>
                  </a:rPr>
                  <a:t>for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both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deep</a:t>
                </a:r>
                <a:r>
                  <a:rPr lang="es-ES" sz="1200" noProof="0" dirty="0">
                    <a:latin typeface="Arial" panose="020B0604020202020204" pitchFamily="34" charset="0"/>
                    <a:cs typeface="Arial" panose="020B0604020202020204" pitchFamily="34" charset="0"/>
                  </a:rPr>
                  <a:t> and </a:t>
                </a:r>
                <a:r>
                  <a:rPr lang="es-ES" sz="1200" noProof="0" dirty="0" err="1">
                    <a:latin typeface="Arial" panose="020B0604020202020204" pitchFamily="34" charset="0"/>
                    <a:cs typeface="Arial" panose="020B0604020202020204" pitchFamily="34" charset="0"/>
                  </a:rPr>
                  <a:t>shallow</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waveguides</a:t>
                </a:r>
                <a:r>
                  <a:rPr lang="es-ES" sz="1200" noProof="0" dirty="0">
                    <a:latin typeface="Arial" panose="020B0604020202020204" pitchFamily="34" charset="0"/>
                    <a:cs typeface="Arial" panose="020B0604020202020204" pitchFamily="34" charset="0"/>
                  </a:rPr>
                  <a:t>. </a:t>
                </a:r>
              </a:p>
              <a:p>
                <a:pPr algn="just"/>
                <a:endParaRPr lang="es-ES" sz="1200" noProof="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478738"/>
              </a:xfrm>
              <a:prstGeom prst="rect">
                <a:avLst/>
              </a:prstGeom>
              <a:blipFill>
                <a:blip r:embed="rId5"/>
                <a:stretch>
                  <a:fillRect/>
                </a:stretch>
              </a:blipFill>
              <a:ln w="28575">
                <a:solidFill>
                  <a:srgbClr val="E0700D"/>
                </a:solidFill>
              </a:ln>
            </p:spPr>
            <p:txBody>
              <a:bodyPr/>
              <a:lstStyle/>
              <a:p>
                <a:r>
                  <a:rPr lang="en-U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s-ES" b="1" noProof="0" err="1"/>
                  <a:t>deep</a:t>
                </a:r>
                <a:r>
                  <a:rPr lang="es-ES" noProof="0"/>
                  <a:t> </a:t>
                </a:r>
                <a:r>
                  <a:rPr lang="es-ES" noProof="0" err="1"/>
                  <a:t>waveguide</a:t>
                </a:r>
                <a:endParaRPr lang="es-ES" noProof="0"/>
              </a:p>
              <a:p>
                <a:pPr algn="ctr"/>
                <a:endParaRPr lang="es-ES" noProof="0"/>
              </a:p>
              <a:p>
                <a:pPr algn="ctr"/>
                <a:r>
                  <a:rPr lang="es-ES" b="1" noProof="0"/>
                  <a:t>neff_TE0 vs </a:t>
                </a:r>
                <a14:m>
                  <m:oMath xmlns:m="http://schemas.openxmlformats.org/officeDocument/2006/math">
                    <m:r>
                      <a:rPr lang="es-ES" b="1" i="1" noProof="0" smtClean="0">
                        <a:latin typeface="Cambria Math" panose="02040503050406030204" pitchFamily="18" charset="0"/>
                      </a:rPr>
                      <m:t>𝝀</m:t>
                    </m:r>
                  </m:oMath>
                </a14:m>
                <a:r>
                  <a:rPr lang="es-ES" b="1" noProof="0"/>
                  <a:t> </a:t>
                </a:r>
                <a:r>
                  <a:rPr lang="es-ES" noProof="0" err="1"/>
                  <a:t>with</a:t>
                </a:r>
                <a:r>
                  <a:rPr lang="es-ES" noProof="0"/>
                  <a:t> </a:t>
                </a:r>
                <a:r>
                  <a:rPr lang="es-ES" noProof="0" err="1"/>
                  <a:t>the</a:t>
                </a:r>
                <a:r>
                  <a:rPr lang="es-ES" noProof="0"/>
                  <a:t> </a:t>
                </a:r>
                <a:r>
                  <a:rPr lang="es-ES" noProof="0" err="1"/>
                  <a:t>second-degree</a:t>
                </a:r>
                <a:r>
                  <a:rPr lang="es-ES" noProof="0"/>
                  <a:t> </a:t>
                </a:r>
                <a:r>
                  <a:rPr lang="es-ES" noProof="0" err="1"/>
                  <a:t>polynomial</a:t>
                </a:r>
                <a:r>
                  <a:rPr lang="es-ES" noProof="0"/>
                  <a:t> </a:t>
                </a:r>
                <a:r>
                  <a:rPr lang="es-ES" noProof="0" err="1"/>
                  <a:t>fit</a:t>
                </a:r>
                <a:r>
                  <a:rPr lang="es-ES" noProof="0"/>
                  <a:t>  </a:t>
                </a:r>
              </a:p>
              <a:p>
                <a:pPr algn="ctr"/>
                <a:r>
                  <a:rPr lang="es-ES" noProof="0"/>
                  <a:t>&amp; </a:t>
                </a:r>
                <a:r>
                  <a:rPr lang="es-ES" b="1" noProof="0"/>
                  <a:t>neff_TM0 vs </a:t>
                </a:r>
                <a14:m>
                  <m:oMath xmlns:m="http://schemas.openxmlformats.org/officeDocument/2006/math">
                    <m:r>
                      <a:rPr lang="es-ES" b="1" i="1" noProof="0">
                        <a:latin typeface="Cambria Math" panose="02040503050406030204" pitchFamily="18" charset="0"/>
                      </a:rPr>
                      <m:t>𝝀</m:t>
                    </m:r>
                  </m:oMath>
                </a14:m>
                <a:r>
                  <a:rPr lang="es-ES" b="1" noProof="0"/>
                  <a:t> </a:t>
                </a:r>
                <a:r>
                  <a:rPr lang="es-ES" noProof="0" err="1"/>
                  <a:t>with</a:t>
                </a:r>
                <a:r>
                  <a:rPr lang="es-ES" noProof="0"/>
                  <a:t> </a:t>
                </a:r>
                <a:r>
                  <a:rPr lang="es-ES" noProof="0" err="1"/>
                  <a:t>the</a:t>
                </a:r>
                <a:r>
                  <a:rPr lang="es-ES" noProof="0"/>
                  <a:t> </a:t>
                </a:r>
                <a:r>
                  <a:rPr lang="es-ES" noProof="0" err="1"/>
                  <a:t>second-degree</a:t>
                </a:r>
                <a:r>
                  <a:rPr lang="es-ES" noProof="0"/>
                  <a:t> </a:t>
                </a:r>
                <a:r>
                  <a:rPr lang="es-ES" noProof="0" err="1"/>
                  <a:t>polynomial</a:t>
                </a:r>
                <a:r>
                  <a:rPr lang="es-ES" noProof="0"/>
                  <a:t> </a:t>
                </a:r>
                <a:r>
                  <a:rPr lang="es-ES" noProof="0" err="1"/>
                  <a:t>fit</a:t>
                </a:r>
                <a:r>
                  <a:rPr lang="es-ES" noProof="0"/>
                  <a: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6"/>
                <a:stretch>
                  <a:fillRect t="-2538"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275250" y="2687277"/>
                <a:ext cx="5486559" cy="1200329"/>
              </a:xfrm>
              <a:prstGeom prst="rect">
                <a:avLst/>
              </a:prstGeom>
              <a:noFill/>
            </p:spPr>
            <p:txBody>
              <a:bodyPr wrap="square" rtlCol="0">
                <a:spAutoFit/>
              </a:bodyPr>
              <a:lstStyle/>
              <a:p>
                <a:pPr algn="ctr"/>
                <a:r>
                  <a:rPr lang="es-ES" b="1" noProof="0" err="1"/>
                  <a:t>shallow</a:t>
                </a:r>
                <a:r>
                  <a:rPr lang="es-ES" noProof="0"/>
                  <a:t> </a:t>
                </a:r>
                <a:r>
                  <a:rPr lang="es-ES" noProof="0" err="1"/>
                  <a:t>waveguide</a:t>
                </a:r>
                <a:endParaRPr lang="es-ES" noProof="0"/>
              </a:p>
              <a:p>
                <a:pPr algn="ctr"/>
                <a:endParaRPr lang="es-ES" noProof="0"/>
              </a:p>
              <a:p>
                <a:pPr algn="ctr"/>
                <a:r>
                  <a:rPr lang="es-ES" b="1" noProof="0"/>
                  <a:t>neff_TE0 vs </a:t>
                </a:r>
                <a14:m>
                  <m:oMath xmlns:m="http://schemas.openxmlformats.org/officeDocument/2006/math">
                    <m:r>
                      <a:rPr lang="es-ES" b="1" i="1" noProof="0">
                        <a:latin typeface="Cambria Math" panose="02040503050406030204" pitchFamily="18" charset="0"/>
                      </a:rPr>
                      <m:t>𝝀</m:t>
                    </m:r>
                  </m:oMath>
                </a14:m>
                <a:r>
                  <a:rPr lang="es-ES" b="1" noProof="0"/>
                  <a:t> </a:t>
                </a:r>
                <a:r>
                  <a:rPr lang="es-ES" noProof="0" err="1"/>
                  <a:t>with</a:t>
                </a:r>
                <a:r>
                  <a:rPr lang="es-ES" noProof="0"/>
                  <a:t> </a:t>
                </a:r>
                <a:r>
                  <a:rPr lang="es-ES" noProof="0" err="1"/>
                  <a:t>the</a:t>
                </a:r>
                <a:r>
                  <a:rPr lang="es-ES" noProof="0"/>
                  <a:t> </a:t>
                </a:r>
                <a:r>
                  <a:rPr lang="es-ES" noProof="0" err="1"/>
                  <a:t>second-degree</a:t>
                </a:r>
                <a:r>
                  <a:rPr lang="es-ES" noProof="0"/>
                  <a:t> </a:t>
                </a:r>
                <a:r>
                  <a:rPr lang="es-ES" noProof="0" err="1"/>
                  <a:t>polynomial</a:t>
                </a:r>
                <a:r>
                  <a:rPr lang="es-ES" noProof="0"/>
                  <a:t> </a:t>
                </a:r>
                <a:r>
                  <a:rPr lang="es-ES" noProof="0" err="1"/>
                  <a:t>fit</a:t>
                </a:r>
                <a:r>
                  <a:rPr lang="es-ES" noProof="0"/>
                  <a:t>  </a:t>
                </a:r>
              </a:p>
              <a:p>
                <a:pPr algn="ctr"/>
                <a:r>
                  <a:rPr lang="es-ES" noProof="0"/>
                  <a:t>&amp; </a:t>
                </a:r>
                <a:r>
                  <a:rPr lang="es-ES" b="1" noProof="0"/>
                  <a:t>neff_TM0 vs </a:t>
                </a:r>
                <a14:m>
                  <m:oMath xmlns:m="http://schemas.openxmlformats.org/officeDocument/2006/math">
                    <m:r>
                      <a:rPr lang="es-ES" b="1" i="1" noProof="0">
                        <a:latin typeface="Cambria Math" panose="02040503050406030204" pitchFamily="18" charset="0"/>
                      </a:rPr>
                      <m:t>𝝀</m:t>
                    </m:r>
                  </m:oMath>
                </a14:m>
                <a:r>
                  <a:rPr lang="es-ES" b="1" noProof="0"/>
                  <a:t> </a:t>
                </a:r>
                <a:r>
                  <a:rPr lang="es-ES" noProof="0" err="1"/>
                  <a:t>with</a:t>
                </a:r>
                <a:r>
                  <a:rPr lang="es-ES" noProof="0"/>
                  <a:t> </a:t>
                </a:r>
                <a:r>
                  <a:rPr lang="es-ES" noProof="0" err="1"/>
                  <a:t>the</a:t>
                </a:r>
                <a:r>
                  <a:rPr lang="es-ES" noProof="0"/>
                  <a:t> </a:t>
                </a:r>
                <a:r>
                  <a:rPr lang="es-ES" noProof="0" err="1"/>
                  <a:t>second-degree</a:t>
                </a:r>
                <a:r>
                  <a:rPr lang="es-ES" noProof="0"/>
                  <a:t> </a:t>
                </a:r>
                <a:r>
                  <a:rPr lang="es-ES" noProof="0" err="1"/>
                  <a:t>polynomial</a:t>
                </a:r>
                <a:r>
                  <a:rPr lang="es-ES" noProof="0"/>
                  <a:t> </a:t>
                </a:r>
                <a:r>
                  <a:rPr lang="es-ES" noProof="0" err="1"/>
                  <a:t>fit</a:t>
                </a:r>
                <a:r>
                  <a:rPr lang="es-ES" noProof="0"/>
                  <a: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275250" y="2687277"/>
                <a:ext cx="5486559" cy="1200329"/>
              </a:xfrm>
              <a:prstGeom prst="rect">
                <a:avLst/>
              </a:prstGeom>
              <a:blipFill>
                <a:blip r:embed="rId7"/>
                <a:stretch>
                  <a:fillRect t="-3046" b="-7107"/>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s-ES" sz="1200" b="1" noProof="0" err="1">
                <a:solidFill>
                  <a:schemeClr val="tx1"/>
                </a:solidFill>
                <a:latin typeface="Arial" panose="020B0604020202020204" pitchFamily="34" charset="0"/>
                <a:cs typeface="Arial" panose="020B0604020202020204" pitchFamily="34" charset="0"/>
              </a:rPr>
              <a:t>slab</a:t>
            </a:r>
            <a:r>
              <a:rPr lang="es-ES" sz="1200" b="1" noProof="0">
                <a:solidFill>
                  <a:schemeClr val="tx1"/>
                </a:solidFill>
                <a:latin typeface="Arial" panose="020B0604020202020204" pitchFamily="34" charset="0"/>
                <a:cs typeface="Arial" panose="020B0604020202020204" pitchFamily="34" charset="0"/>
              </a:rPr>
              <a:t>: 150nm</a:t>
            </a:r>
            <a:endParaRPr lang="es-ES" sz="1200" noProof="0">
              <a:solidFill>
                <a:schemeClr val="tx1"/>
              </a:solidFill>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44BDE3E7-64C5-F5A2-D41A-9D84E0D93B1D}"/>
              </a:ext>
            </a:extLst>
          </p:cNvPr>
          <p:cNvPicPr>
            <a:picLocks noChangeAspect="1"/>
          </p:cNvPicPr>
          <p:nvPr/>
        </p:nvPicPr>
        <p:blipFill>
          <a:blip r:embed="rId8"/>
          <a:stretch>
            <a:fillRect/>
          </a:stretch>
        </p:blipFill>
        <p:spPr>
          <a:xfrm>
            <a:off x="639623" y="1462479"/>
            <a:ext cx="5333844" cy="3308334"/>
          </a:xfrm>
          <a:prstGeom prst="rect">
            <a:avLst/>
          </a:prstGeom>
        </p:spPr>
      </p:pic>
      <p:pic>
        <p:nvPicPr>
          <p:cNvPr id="12" name="Imagen 11">
            <a:extLst>
              <a:ext uri="{FF2B5EF4-FFF2-40B4-BE49-F238E27FC236}">
                <a16:creationId xmlns:a16="http://schemas.microsoft.com/office/drawing/2014/main" id="{585A1598-D5D2-5863-B8BF-253441DA9D1D}"/>
              </a:ext>
            </a:extLst>
          </p:cNvPr>
          <p:cNvPicPr>
            <a:picLocks noChangeAspect="1"/>
          </p:cNvPicPr>
          <p:nvPr/>
        </p:nvPicPr>
        <p:blipFill>
          <a:blip r:embed="rId9"/>
          <a:stretch>
            <a:fillRect/>
          </a:stretch>
        </p:blipFill>
        <p:spPr>
          <a:xfrm>
            <a:off x="6438535" y="1529196"/>
            <a:ext cx="5113842" cy="3171876"/>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FF5331F-0061-20A9-9DDB-C064365A5FB1}"/>
              </a:ext>
            </a:extLst>
          </p:cNvPr>
          <p:cNvSpPr>
            <a:spLocks noGrp="1"/>
          </p:cNvSpPr>
          <p:nvPr>
            <p:ph type="body" idx="1"/>
          </p:nvPr>
        </p:nvSpPr>
        <p:spPr>
          <a:xfrm>
            <a:off x="888843" y="1116852"/>
            <a:ext cx="10641165" cy="2585323"/>
          </a:xfrm>
        </p:spPr>
        <p:txBody>
          <a:bodyPr/>
          <a:lstStyle/>
          <a:p>
            <a:pPr algn="just"/>
            <a:r>
              <a:rPr lang="es-ES" sz="1200" dirty="0">
                <a:latin typeface="Arial" panose="020B0604020202020204" pitchFamily="34" charset="0"/>
                <a:cs typeface="Arial" panose="020B0604020202020204" pitchFamily="34" charset="0"/>
              </a:rPr>
              <a:t>Compact </a:t>
            </a:r>
            <a:r>
              <a:rPr lang="es-ES" sz="1200" dirty="0" err="1">
                <a:latin typeface="Arial" panose="020B0604020202020204" pitchFamily="34" charset="0"/>
                <a:cs typeface="Arial" panose="020B0604020202020204" pitchFamily="34" charset="0"/>
              </a:rPr>
              <a:t>model</a:t>
            </a:r>
            <a:r>
              <a:rPr lang="es-ES" sz="1200" dirty="0">
                <a:latin typeface="Arial" panose="020B0604020202020204" pitchFamily="34" charset="0"/>
                <a:cs typeface="Arial" panose="020B0604020202020204" pitchFamily="34" charset="0"/>
              </a:rPr>
              <a:t> es un modo de propagación de la onda. Para este se observa que la diferencia clave entre las guías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y las Deep es que las primeras tienen un índice efectivo superior para los dos modos fundamentales. Ese debe, como se ha visto en anteriores ejercicios a que se añade una capa de silicio que mejora el confinamiento lateral del campo en la guía.</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valor de n2 se deduce por el polinomio que es la pendiente, por lo que a mayor pendiente (más negativa) mayor será el índice de grupo (ng). Si no hay variación en longitud de onda del índice efectivo entonces Ng=</a:t>
            </a:r>
            <a:r>
              <a:rPr lang="es-ES" sz="1200" dirty="0" err="1">
                <a:latin typeface="Arial" panose="020B0604020202020204" pitchFamily="34" charset="0"/>
                <a:cs typeface="Arial" panose="020B0604020202020204" pitchFamily="34" charset="0"/>
              </a:rPr>
              <a:t>N_eff</a:t>
            </a:r>
            <a:r>
              <a:rPr lang="es-ES" sz="1200" dirty="0">
                <a:latin typeface="Arial" panose="020B0604020202020204" pitchFamily="34" charset="0"/>
                <a:cs typeface="Arial" panose="020B0604020202020204" pitchFamily="34" charset="0"/>
              </a:rPr>
              <a:t> y n2 =0. Además, el valor de n2 siempre es negativo por lo que el índice de grupo siempre tiene que ser superior en estas guías de onda. El índice de grupo mide la variabilidad en longitud de onda del índice efectivo. </a:t>
            </a:r>
            <a:r>
              <a:rPr lang="es-ES" sz="1200" i="0" u="none" strike="noStrike" dirty="0">
                <a:solidFill>
                  <a:srgbClr val="000000"/>
                </a:solidFill>
                <a:effectLst/>
                <a:latin typeface="Arial" panose="020B0604020202020204" pitchFamily="34" charset="0"/>
                <a:cs typeface="Arial" panose="020B0604020202020204" pitchFamily="34" charset="0"/>
              </a:rPr>
              <a:t>La guía Deep muestra un ng​ más elevado en comparación con la </a:t>
            </a:r>
            <a:r>
              <a:rPr lang="es-ES" sz="1200" i="0" u="none" strike="noStrike" dirty="0" err="1">
                <a:solidFill>
                  <a:srgbClr val="000000"/>
                </a:solidFill>
                <a:effectLst/>
                <a:latin typeface="Arial" panose="020B0604020202020204" pitchFamily="34" charset="0"/>
                <a:cs typeface="Arial" panose="020B0604020202020204" pitchFamily="34" charset="0"/>
              </a:rPr>
              <a:t>Shallow</a:t>
            </a:r>
            <a:r>
              <a:rPr lang="es-ES" sz="1200" i="0" u="none" strike="noStrike" dirty="0">
                <a:solidFill>
                  <a:srgbClr val="000000"/>
                </a:solidFill>
                <a:effectLst/>
                <a:latin typeface="Arial" panose="020B0604020202020204" pitchFamily="34" charset="0"/>
                <a:cs typeface="Arial" panose="020B0604020202020204" pitchFamily="34" charset="0"/>
              </a:rPr>
              <a:t>, indicando que los pulsos viajan más lentamente y son más sensibles a los cambios espectrales en ausencia del </a:t>
            </a:r>
            <a:r>
              <a:rPr lang="es-ES" sz="1200" i="0" u="none" strike="noStrike" dirty="0" err="1">
                <a:solidFill>
                  <a:srgbClr val="000000"/>
                </a:solidFill>
                <a:effectLst/>
                <a:latin typeface="Arial" panose="020B0604020202020204" pitchFamily="34" charset="0"/>
                <a:cs typeface="Arial" panose="020B0604020202020204" pitchFamily="34" charset="0"/>
              </a:rPr>
              <a:t>slab</a:t>
            </a:r>
            <a:r>
              <a:rPr lang="es-ES" sz="1200" i="0" u="none" strike="noStrike" dirty="0">
                <a:solidFill>
                  <a:srgbClr val="000000"/>
                </a:solidFill>
                <a:effectLst/>
                <a:latin typeface="Arial" panose="020B0604020202020204" pitchFamily="34" charset="0"/>
                <a:cs typeface="Arial" panose="020B0604020202020204" pitchFamily="34" charset="0"/>
              </a:rPr>
              <a:t>. Asimismo, el modo TE0 es superior al del modo TM0 en ambas configuraciones, evidenciando una mayor inercia espectral para la polarización TE.</a:t>
            </a:r>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solidFill>
                  <a:srgbClr val="000000"/>
                </a:solidFill>
                <a:latin typeface="Arial" panose="020B0604020202020204" pitchFamily="34" charset="0"/>
                <a:cs typeface="Arial" panose="020B0604020202020204" pitchFamily="34" charset="0"/>
              </a:rPr>
              <a:t>L</a:t>
            </a:r>
            <a:r>
              <a:rPr lang="es-ES" sz="1200" i="0" u="none" strike="noStrike" dirty="0">
                <a:solidFill>
                  <a:srgbClr val="000000"/>
                </a:solidFill>
                <a:effectLst/>
                <a:latin typeface="Arial" panose="020B0604020202020204" pitchFamily="34" charset="0"/>
                <a:cs typeface="Arial" panose="020B0604020202020204" pitchFamily="34" charset="0"/>
              </a:rPr>
              <a:t>os valores calculados para el parámetro de dispersión (D) son negativos por lo que caracteriza un régimen de dispersión normal. El modo TM0 presenta valores de dispersión más negativos que el TE0 tanto en guías Deep como </a:t>
            </a:r>
            <a:r>
              <a:rPr lang="es-ES" sz="1200" i="0" u="none" strike="noStrike" dirty="0" err="1">
                <a:solidFill>
                  <a:srgbClr val="000000"/>
                </a:solidFill>
                <a:effectLst/>
                <a:latin typeface="Arial" panose="020B0604020202020204" pitchFamily="34" charset="0"/>
                <a:cs typeface="Arial" panose="020B0604020202020204" pitchFamily="34" charset="0"/>
              </a:rPr>
              <a:t>Shallow</a:t>
            </a:r>
            <a:r>
              <a:rPr lang="es-ES" sz="1200" i="0" u="none" strike="noStrike" dirty="0">
                <a:solidFill>
                  <a:srgbClr val="000000"/>
                </a:solidFill>
                <a:effectLst/>
                <a:latin typeface="Arial" panose="020B0604020202020204" pitchFamily="34" charset="0"/>
                <a:cs typeface="Arial" panose="020B0604020202020204" pitchFamily="34" charset="0"/>
              </a:rPr>
              <a:t>, esto </a:t>
            </a:r>
            <a:r>
              <a:rPr lang="es-ES" sz="1200" dirty="0">
                <a:solidFill>
                  <a:srgbClr val="000000"/>
                </a:solidFill>
                <a:latin typeface="Arial" panose="020B0604020202020204" pitchFamily="34" charset="0"/>
                <a:cs typeface="Arial" panose="020B0604020202020204" pitchFamily="34" charset="0"/>
              </a:rPr>
              <a:t>se traduce en </a:t>
            </a:r>
            <a:r>
              <a:rPr lang="es-ES" sz="1200" i="0" u="none" strike="noStrike" dirty="0">
                <a:solidFill>
                  <a:srgbClr val="000000"/>
                </a:solidFill>
                <a:effectLst/>
                <a:latin typeface="Arial" panose="020B0604020202020204" pitchFamily="34" charset="0"/>
                <a:cs typeface="Arial" panose="020B0604020202020204" pitchFamily="34" charset="0"/>
              </a:rPr>
              <a:t>un mayor ensanchamiento temporal de los pulsos para esta polarización debido a su menor confinamiento.</a:t>
            </a:r>
            <a:endParaRPr lang="es-ES" sz="1200" dirty="0">
              <a:latin typeface="Arial" panose="020B0604020202020204" pitchFamily="34" charset="0"/>
              <a:cs typeface="Arial" panose="020B0604020202020204" pitchFamily="34" charset="0"/>
            </a:endParaRPr>
          </a:p>
        </p:txBody>
      </p:sp>
      <p:sp>
        <p:nvSpPr>
          <p:cNvPr id="4" name="Marcador de pie de página 3">
            <a:extLst>
              <a:ext uri="{FF2B5EF4-FFF2-40B4-BE49-F238E27FC236}">
                <a16:creationId xmlns:a16="http://schemas.microsoft.com/office/drawing/2014/main" id="{473FE24B-2978-E375-F239-776494FACB58}"/>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87A69B0B-186D-C8C6-BBC6-EE80FB150D73}"/>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6" name="Rectángulo 5">
            <a:extLst>
              <a:ext uri="{FF2B5EF4-FFF2-40B4-BE49-F238E27FC236}">
                <a16:creationId xmlns:a16="http://schemas.microsoft.com/office/drawing/2014/main" id="{41E74DFB-1445-34C8-3FA7-29A99A682D66}"/>
              </a:ext>
            </a:extLst>
          </p:cNvPr>
          <p:cNvSpPr/>
          <p:nvPr/>
        </p:nvSpPr>
        <p:spPr>
          <a:xfrm>
            <a:off x="609441" y="609600"/>
            <a:ext cx="11199971" cy="55821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graphicFrame>
        <p:nvGraphicFramePr>
          <p:cNvPr id="8" name="Tabla 7">
            <a:extLst>
              <a:ext uri="{FF2B5EF4-FFF2-40B4-BE49-F238E27FC236}">
                <a16:creationId xmlns:a16="http://schemas.microsoft.com/office/drawing/2014/main" id="{C7AC7D15-368A-8446-D269-71109F0A5B19}"/>
              </a:ext>
            </a:extLst>
          </p:cNvPr>
          <p:cNvGraphicFramePr>
            <a:graphicFrameLocks noGrp="1"/>
          </p:cNvGraphicFramePr>
          <p:nvPr>
            <p:extLst>
              <p:ext uri="{D42A27DB-BD31-4B8C-83A1-F6EECF244321}">
                <p14:modId xmlns:p14="http://schemas.microsoft.com/office/powerpoint/2010/main" val="2196596266"/>
              </p:ext>
            </p:extLst>
          </p:nvPr>
        </p:nvGraphicFramePr>
        <p:xfrm>
          <a:off x="714223" y="4209427"/>
          <a:ext cx="10868335" cy="1854200"/>
        </p:xfrm>
        <a:graphic>
          <a:graphicData uri="http://schemas.openxmlformats.org/drawingml/2006/table">
            <a:tbl>
              <a:tblPr firstRow="1" bandRow="1">
                <a:tableStyleId>{21E4AEA4-8DFA-4A89-87EB-49C32662AFE0}</a:tableStyleId>
              </a:tblPr>
              <a:tblGrid>
                <a:gridCol w="1666777">
                  <a:extLst>
                    <a:ext uri="{9D8B030D-6E8A-4147-A177-3AD203B41FA5}">
                      <a16:colId xmlns:a16="http://schemas.microsoft.com/office/drawing/2014/main" val="3849281741"/>
                    </a:ext>
                  </a:extLst>
                </a:gridCol>
                <a:gridCol w="2272268">
                  <a:extLst>
                    <a:ext uri="{9D8B030D-6E8A-4147-A177-3AD203B41FA5}">
                      <a16:colId xmlns:a16="http://schemas.microsoft.com/office/drawing/2014/main" val="689288011"/>
                    </a:ext>
                  </a:extLst>
                </a:gridCol>
                <a:gridCol w="2283516">
                  <a:extLst>
                    <a:ext uri="{9D8B030D-6E8A-4147-A177-3AD203B41FA5}">
                      <a16:colId xmlns:a16="http://schemas.microsoft.com/office/drawing/2014/main" val="1058988579"/>
                    </a:ext>
                  </a:extLst>
                </a:gridCol>
                <a:gridCol w="2317262">
                  <a:extLst>
                    <a:ext uri="{9D8B030D-6E8A-4147-A177-3AD203B41FA5}">
                      <a16:colId xmlns:a16="http://schemas.microsoft.com/office/drawing/2014/main" val="4043337141"/>
                    </a:ext>
                  </a:extLst>
                </a:gridCol>
                <a:gridCol w="2328512">
                  <a:extLst>
                    <a:ext uri="{9D8B030D-6E8A-4147-A177-3AD203B41FA5}">
                      <a16:colId xmlns:a16="http://schemas.microsoft.com/office/drawing/2014/main" val="3803771815"/>
                    </a:ext>
                  </a:extLst>
                </a:gridCol>
              </a:tblGrid>
              <a:tr h="370840">
                <a:tc>
                  <a:txBody>
                    <a:bodyPr/>
                    <a:lstStyle/>
                    <a:p>
                      <a:r>
                        <a:rPr lang="es-ES"/>
                        <a:t>WaveGuide</a:t>
                      </a:r>
                    </a:p>
                  </a:txBody>
                  <a:tcPr/>
                </a:tc>
                <a:tc gridSpan="2">
                  <a:txBody>
                    <a:bodyPr/>
                    <a:lstStyle/>
                    <a:p>
                      <a:r>
                        <a:rPr lang="es-ES"/>
                        <a:t>Deep </a:t>
                      </a:r>
                      <a:r>
                        <a:rPr lang="es-ES" err="1"/>
                        <a:t>Waveguide</a:t>
                      </a:r>
                      <a:endParaRPr lang="es-ES"/>
                    </a:p>
                  </a:txBody>
                  <a:tcPr/>
                </a:tc>
                <a:tc hMerge="1">
                  <a:txBody>
                    <a:bodyPr/>
                    <a:lstStyle/>
                    <a:p>
                      <a:endParaRPr lang="es-ES"/>
                    </a:p>
                  </a:txBody>
                  <a:tcPr/>
                </a:tc>
                <a:tc gridSpan="2">
                  <a:txBody>
                    <a:bodyPr/>
                    <a:lstStyle/>
                    <a:p>
                      <a:r>
                        <a:rPr lang="es-ES" err="1"/>
                        <a:t>Shallow</a:t>
                      </a:r>
                      <a:r>
                        <a:rPr lang="es-ES"/>
                        <a:t> </a:t>
                      </a:r>
                      <a:r>
                        <a:rPr lang="es-ES" err="1"/>
                        <a:t>Waveguide</a:t>
                      </a:r>
                      <a:endParaRPr lang="es-ES"/>
                    </a:p>
                  </a:txBody>
                  <a:tcPr/>
                </a:tc>
                <a:tc hMerge="1">
                  <a:txBody>
                    <a:bodyPr/>
                    <a:lstStyle/>
                    <a:p>
                      <a:endParaRPr lang="es-ES"/>
                    </a:p>
                  </a:txBody>
                  <a:tcPr/>
                </a:tc>
                <a:extLst>
                  <a:ext uri="{0D108BD9-81ED-4DB2-BD59-A6C34878D82A}">
                    <a16:rowId xmlns:a16="http://schemas.microsoft.com/office/drawing/2014/main" val="1782196180"/>
                  </a:ext>
                </a:extLst>
              </a:tr>
              <a:tr h="370840">
                <a:tc>
                  <a:txBody>
                    <a:bodyPr/>
                    <a:lstStyle/>
                    <a:p>
                      <a:r>
                        <a:rPr lang="es-ES" dirty="0">
                          <a:solidFill>
                            <a:schemeClr val="bg1"/>
                          </a:solidFill>
                        </a:rPr>
                        <a:t>Modo</a:t>
                      </a:r>
                    </a:p>
                  </a:txBody>
                  <a:tcPr>
                    <a:solidFill>
                      <a:schemeClr val="accent2"/>
                    </a:solidFill>
                  </a:tcPr>
                </a:tc>
                <a:tc>
                  <a:txBody>
                    <a:bodyPr/>
                    <a:lstStyle/>
                    <a:p>
                      <a:r>
                        <a:rPr lang="es-ES"/>
                        <a:t>TE0</a:t>
                      </a:r>
                    </a:p>
                  </a:txBody>
                  <a:tcPr/>
                </a:tc>
                <a:tc>
                  <a:txBody>
                    <a:bodyPr/>
                    <a:lstStyle/>
                    <a:p>
                      <a:r>
                        <a:rPr lang="es-ES"/>
                        <a:t>TM0</a:t>
                      </a:r>
                    </a:p>
                  </a:txBody>
                  <a:tcPr/>
                </a:tc>
                <a:tc>
                  <a:txBody>
                    <a:bodyPr/>
                    <a:lstStyle/>
                    <a:p>
                      <a:r>
                        <a:rPr lang="es-ES"/>
                        <a:t>TE0</a:t>
                      </a:r>
                    </a:p>
                  </a:txBody>
                  <a:tcPr/>
                </a:tc>
                <a:tc>
                  <a:txBody>
                    <a:bodyPr/>
                    <a:lstStyle/>
                    <a:p>
                      <a:r>
                        <a:rPr lang="es-ES"/>
                        <a:t>TM0</a:t>
                      </a:r>
                    </a:p>
                  </a:txBody>
                  <a:tcPr/>
                </a:tc>
                <a:extLst>
                  <a:ext uri="{0D108BD9-81ED-4DB2-BD59-A6C34878D82A}">
                    <a16:rowId xmlns:a16="http://schemas.microsoft.com/office/drawing/2014/main" val="2284238963"/>
                  </a:ext>
                </a:extLst>
              </a:tr>
              <a:tr h="370840">
                <a:tc>
                  <a:txBody>
                    <a:bodyPr/>
                    <a:lstStyle/>
                    <a:p>
                      <a:r>
                        <a:rPr lang="es-ES">
                          <a:solidFill>
                            <a:schemeClr val="bg1"/>
                          </a:solidFill>
                        </a:rPr>
                        <a:t>n_eff</a:t>
                      </a:r>
                    </a:p>
                  </a:txBody>
                  <a:tcPr>
                    <a:solidFill>
                      <a:schemeClr val="accent2"/>
                    </a:solidFill>
                  </a:tcPr>
                </a:tc>
                <a:tc>
                  <a:txBody>
                    <a:bodyPr/>
                    <a:lstStyle/>
                    <a:p>
                      <a:r>
                        <a:rPr lang="es-ES" b="0" i="0">
                          <a:solidFill>
                            <a:schemeClr val="dk1"/>
                          </a:solidFill>
                          <a:effectLst/>
                          <a:latin typeface="+mn-lt"/>
                          <a:ea typeface="+mn-ea"/>
                          <a:cs typeface="+mn-cs"/>
                        </a:rPr>
                        <a:t>1.6049</a:t>
                      </a:r>
                      <a:endParaRPr lang="es-ES"/>
                    </a:p>
                  </a:txBody>
                  <a:tcPr/>
                </a:tc>
                <a:tc>
                  <a:txBody>
                    <a:bodyPr/>
                    <a:lstStyle/>
                    <a:p>
                      <a:r>
                        <a:rPr lang="es-ES" b="0" i="0">
                          <a:solidFill>
                            <a:schemeClr val="dk1"/>
                          </a:solidFill>
                          <a:effectLst/>
                          <a:latin typeface="+mn-lt"/>
                          <a:ea typeface="+mn-ea"/>
                          <a:cs typeface="+mn-cs"/>
                        </a:rPr>
                        <a:t>1.5272</a:t>
                      </a:r>
                      <a:endParaRPr lang="es-ES"/>
                    </a:p>
                  </a:txBody>
                  <a:tcPr/>
                </a:tc>
                <a:tc>
                  <a:txBody>
                    <a:bodyPr/>
                    <a:lstStyle/>
                    <a:p>
                      <a:r>
                        <a:rPr lang="es-ES" b="0" i="0">
                          <a:solidFill>
                            <a:schemeClr val="dk1"/>
                          </a:solidFill>
                          <a:effectLst/>
                          <a:latin typeface="+mn-lt"/>
                          <a:ea typeface="+mn-ea"/>
                          <a:cs typeface="+mn-cs"/>
                        </a:rPr>
                        <a:t>1.6241 </a:t>
                      </a:r>
                      <a:endParaRPr lang="es-ES"/>
                    </a:p>
                  </a:txBody>
                  <a:tcPr/>
                </a:tc>
                <a:tc>
                  <a:txBody>
                    <a:bodyPr/>
                    <a:lstStyle/>
                    <a:p>
                      <a:r>
                        <a:rPr lang="es-ES" b="0" i="0">
                          <a:solidFill>
                            <a:schemeClr val="dk1"/>
                          </a:solidFill>
                          <a:effectLst/>
                          <a:latin typeface="+mn-lt"/>
                          <a:ea typeface="+mn-ea"/>
                          <a:cs typeface="+mn-cs"/>
                        </a:rPr>
                        <a:t>1.5419 </a:t>
                      </a:r>
                      <a:endParaRPr lang="es-ES"/>
                    </a:p>
                  </a:txBody>
                  <a:tcPr/>
                </a:tc>
                <a:extLst>
                  <a:ext uri="{0D108BD9-81ED-4DB2-BD59-A6C34878D82A}">
                    <a16:rowId xmlns:a16="http://schemas.microsoft.com/office/drawing/2014/main" val="1906446747"/>
                  </a:ext>
                </a:extLst>
              </a:tr>
              <a:tr h="370840">
                <a:tc>
                  <a:txBody>
                    <a:bodyPr/>
                    <a:lstStyle/>
                    <a:p>
                      <a:r>
                        <a:rPr lang="es-ES">
                          <a:solidFill>
                            <a:schemeClr val="bg1"/>
                          </a:solidFill>
                        </a:rPr>
                        <a:t>Ng</a:t>
                      </a:r>
                    </a:p>
                  </a:txBody>
                  <a:tcPr>
                    <a:solidFill>
                      <a:schemeClr val="accent2"/>
                    </a:solidFill>
                  </a:tcPr>
                </a:tc>
                <a:tc>
                  <a:txBody>
                    <a:bodyPr/>
                    <a:lstStyle/>
                    <a:p>
                      <a:r>
                        <a:rPr lang="es-ES" b="0" i="0">
                          <a:solidFill>
                            <a:schemeClr val="dk1"/>
                          </a:solidFill>
                          <a:effectLst/>
                          <a:latin typeface="+mn-lt"/>
                          <a:ea typeface="+mn-ea"/>
                          <a:cs typeface="+mn-cs"/>
                        </a:rPr>
                        <a:t>1.9400</a:t>
                      </a:r>
                      <a:endParaRPr lang="es-ES"/>
                    </a:p>
                  </a:txBody>
                  <a:tcPr/>
                </a:tc>
                <a:tc>
                  <a:txBody>
                    <a:bodyPr/>
                    <a:lstStyle/>
                    <a:p>
                      <a:r>
                        <a:rPr lang="es-ES" b="0" i="0">
                          <a:solidFill>
                            <a:schemeClr val="dk1"/>
                          </a:solidFill>
                          <a:effectLst/>
                          <a:latin typeface="+mn-lt"/>
                          <a:ea typeface="+mn-ea"/>
                          <a:cs typeface="+mn-cs"/>
                        </a:rPr>
                        <a:t>1.7720</a:t>
                      </a:r>
                      <a:endParaRPr lang="es-ES"/>
                    </a:p>
                  </a:txBody>
                  <a:tcPr/>
                </a:tc>
                <a:tc>
                  <a:txBody>
                    <a:bodyPr/>
                    <a:lstStyle/>
                    <a:p>
                      <a:r>
                        <a:rPr lang="es-ES" b="0" i="0">
                          <a:solidFill>
                            <a:schemeClr val="dk1"/>
                          </a:solidFill>
                          <a:effectLst/>
                          <a:latin typeface="+mn-lt"/>
                          <a:ea typeface="+mn-ea"/>
                          <a:cs typeface="+mn-cs"/>
                        </a:rPr>
                        <a:t>1.9158 </a:t>
                      </a:r>
                      <a:endParaRPr lang="es-ES"/>
                    </a:p>
                  </a:txBody>
                  <a:tcPr/>
                </a:tc>
                <a:tc>
                  <a:txBody>
                    <a:bodyPr/>
                    <a:lstStyle/>
                    <a:p>
                      <a:r>
                        <a:rPr lang="es-ES" b="0" i="0">
                          <a:solidFill>
                            <a:schemeClr val="dk1"/>
                          </a:solidFill>
                          <a:effectLst/>
                          <a:latin typeface="+mn-lt"/>
                          <a:ea typeface="+mn-ea"/>
                          <a:cs typeface="+mn-cs"/>
                        </a:rPr>
                        <a:t>1.7474 </a:t>
                      </a:r>
                      <a:endParaRPr lang="es-ES"/>
                    </a:p>
                  </a:txBody>
                  <a:tcPr/>
                </a:tc>
                <a:extLst>
                  <a:ext uri="{0D108BD9-81ED-4DB2-BD59-A6C34878D82A}">
                    <a16:rowId xmlns:a16="http://schemas.microsoft.com/office/drawing/2014/main" val="1963031326"/>
                  </a:ext>
                </a:extLst>
              </a:tr>
              <a:tr h="370840">
                <a:tc>
                  <a:txBody>
                    <a:bodyPr/>
                    <a:lstStyle/>
                    <a:p>
                      <a:r>
                        <a:rPr lang="es-ES">
                          <a:solidFill>
                            <a:schemeClr val="bg1"/>
                          </a:solidFill>
                        </a:rPr>
                        <a:t>D</a:t>
                      </a:r>
                    </a:p>
                  </a:txBody>
                  <a:tcPr>
                    <a:solidFill>
                      <a:schemeClr val="accent2"/>
                    </a:solidFill>
                  </a:tcPr>
                </a:tc>
                <a:tc>
                  <a:txBody>
                    <a:bodyPr/>
                    <a:lstStyle/>
                    <a:p>
                      <a:r>
                        <a:rPr lang="es-ES" b="0" i="0">
                          <a:solidFill>
                            <a:schemeClr val="dk1"/>
                          </a:solidFill>
                          <a:effectLst/>
                          <a:latin typeface="+mn-lt"/>
                          <a:ea typeface="+mn-ea"/>
                          <a:cs typeface="+mn-cs"/>
                        </a:rPr>
                        <a:t>-1.0067e-03 s^2/m</a:t>
                      </a:r>
                      <a:endParaRPr lang="es-ES"/>
                    </a:p>
                  </a:txBody>
                  <a:tcPr/>
                </a:tc>
                <a:tc>
                  <a:txBody>
                    <a:bodyPr/>
                    <a:lstStyle/>
                    <a:p>
                      <a:r>
                        <a:rPr lang="es-ES" b="0" i="0">
                          <a:solidFill>
                            <a:schemeClr val="dk1"/>
                          </a:solidFill>
                          <a:effectLst/>
                          <a:latin typeface="+mn-lt"/>
                          <a:ea typeface="+mn-ea"/>
                          <a:cs typeface="+mn-cs"/>
                        </a:rPr>
                        <a:t>-1.5907e-03 s^2/m</a:t>
                      </a:r>
                      <a:endParaRPr lang="es-ES"/>
                    </a:p>
                  </a:txBody>
                  <a:tcPr/>
                </a:tc>
                <a:tc>
                  <a:txBody>
                    <a:bodyPr/>
                    <a:lstStyle/>
                    <a:p>
                      <a:r>
                        <a:rPr lang="es-ES" b="0" i="0">
                          <a:solidFill>
                            <a:schemeClr val="dk1"/>
                          </a:solidFill>
                          <a:effectLst/>
                          <a:latin typeface="+mn-lt"/>
                          <a:ea typeface="+mn-ea"/>
                          <a:cs typeface="+mn-cs"/>
                        </a:rPr>
                        <a:t>-9.8954e-04 s^2/m</a:t>
                      </a:r>
                      <a:endParaRPr lang="es-ES"/>
                    </a:p>
                  </a:txBody>
                  <a:tcPr/>
                </a:tc>
                <a:tc>
                  <a:txBody>
                    <a:bodyPr/>
                    <a:lstStyle/>
                    <a:p>
                      <a:r>
                        <a:rPr lang="es-ES" b="0" i="0" dirty="0">
                          <a:solidFill>
                            <a:schemeClr val="dk1"/>
                          </a:solidFill>
                          <a:effectLst/>
                          <a:latin typeface="+mn-lt"/>
                          <a:ea typeface="+mn-ea"/>
                          <a:cs typeface="+mn-cs"/>
                        </a:rPr>
                        <a:t>-1.5305e-03 s^2/m</a:t>
                      </a:r>
                      <a:endParaRPr lang="es-ES" dirty="0"/>
                    </a:p>
                  </a:txBody>
                  <a:tcPr/>
                </a:tc>
                <a:extLst>
                  <a:ext uri="{0D108BD9-81ED-4DB2-BD59-A6C34878D82A}">
                    <a16:rowId xmlns:a16="http://schemas.microsoft.com/office/drawing/2014/main" val="155734092"/>
                  </a:ext>
                </a:extLst>
              </a:tr>
            </a:tbl>
          </a:graphicData>
        </a:graphic>
      </p:graphicFrame>
    </p:spTree>
    <p:extLst>
      <p:ext uri="{BB962C8B-B14F-4D97-AF65-F5344CB8AC3E}">
        <p14:creationId xmlns:p14="http://schemas.microsoft.com/office/powerpoint/2010/main" val="1921029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ES" sz="2500" noProof="0" err="1"/>
              <a:t>Learning</a:t>
            </a:r>
            <a:r>
              <a:rPr lang="es-ES" sz="2500" noProof="0"/>
              <a:t> </a:t>
            </a:r>
            <a:r>
              <a:rPr lang="es-ES" sz="2500" noProof="0" err="1"/>
              <a:t>outcome</a:t>
            </a:r>
            <a:r>
              <a:rPr lang="es-ES" sz="2500" noProof="0"/>
              <a:t> #5 – Bend </a:t>
            </a:r>
            <a:r>
              <a:rPr lang="es-ES" sz="2500" noProof="0" err="1"/>
              <a:t>waveguide</a:t>
            </a:r>
            <a:r>
              <a:rPr lang="es-ES" sz="2500" noProof="0"/>
              <a:t> </a:t>
            </a:r>
            <a:r>
              <a:rPr lang="es-ES" sz="2500" noProof="0" err="1"/>
              <a:t>radius</a:t>
            </a:r>
            <a:r>
              <a:rPr lang="es-ES" sz="2500" noProof="0"/>
              <a:t> vs. </a:t>
            </a:r>
            <a:r>
              <a:rPr lang="es-ES" sz="2500" noProof="0" err="1"/>
              <a:t>loss</a:t>
            </a:r>
            <a:r>
              <a:rPr lang="es-ES" sz="2500" noProof="0"/>
              <a:t> – </a:t>
            </a:r>
            <a:r>
              <a:rPr lang="es-ES" sz="2500" noProof="0" err="1"/>
              <a:t>deep</a:t>
            </a:r>
            <a:br>
              <a:rPr lang="es-ES" sz="2500" noProof="0"/>
            </a:br>
            <a:r>
              <a:rPr lang="es-ES" b="0" noProof="0" err="1"/>
              <a:t>Find</a:t>
            </a:r>
            <a:r>
              <a:rPr lang="es-ES" b="0" noProof="0"/>
              <a:t>  neff_TE0 </a:t>
            </a:r>
            <a:r>
              <a:rPr lang="es-ES" b="0" noProof="0" err="1"/>
              <a:t>for</a:t>
            </a:r>
            <a:r>
              <a:rPr lang="es-ES" b="0" noProof="0"/>
              <a:t> </a:t>
            </a:r>
            <a:r>
              <a:rPr lang="es-ES" b="0" noProof="0" err="1"/>
              <a:t>wvl</a:t>
            </a:r>
            <a:r>
              <a:rPr lang="es-ES" b="0" noProof="0"/>
              <a:t> 1.55 µm, </a:t>
            </a:r>
            <a:r>
              <a:rPr lang="es-ES" b="0" noProof="0" err="1"/>
              <a:t>width</a:t>
            </a:r>
            <a:r>
              <a:rPr lang="es-ES" b="0" noProof="0"/>
              <a:t> 1.2 µm </a:t>
            </a:r>
            <a:r>
              <a:rPr lang="es-ES" b="0" noProof="0" err="1"/>
              <a:t>for</a:t>
            </a:r>
            <a:r>
              <a:rPr lang="es-ES" b="0" noProof="0"/>
              <a:t> R=25,50,75,100, 125,150 µm</a:t>
            </a:r>
            <a:br>
              <a:rPr lang="es-ES" sz="2500" noProof="0"/>
            </a:br>
            <a:endParaRPr lang="es-ES" sz="2500" b="0" noProof="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15</a:t>
            </a:fld>
            <a:endParaRPr lang="es-ES" noProof="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s-ES" sz="1200" noProof="0" dirty="0" err="1">
                <a:latin typeface="Arial" panose="020B0604020202020204" pitchFamily="34" charset="0"/>
                <a:cs typeface="Arial" panose="020B0604020202020204" pitchFamily="34" charset="0"/>
              </a:rPr>
              <a:t>Comment</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results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which</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is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safe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radius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consider</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safe</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means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less</a:t>
            </a:r>
            <a:r>
              <a:rPr lang="es-ES" sz="1200" noProof="0" dirty="0">
                <a:latin typeface="Arial" panose="020B0604020202020204" pitchFamily="34" charset="0"/>
                <a:cs typeface="Arial" panose="020B0604020202020204" pitchFamily="34" charset="0"/>
              </a:rPr>
              <a:t> </a:t>
            </a:r>
            <a:r>
              <a:rPr lang="es-ES" sz="1200" noProof="0" dirty="0" err="1">
                <a:latin typeface="Arial" panose="020B0604020202020204" pitchFamily="34" charset="0"/>
                <a:cs typeface="Arial" panose="020B0604020202020204" pitchFamily="34" charset="0"/>
              </a:rPr>
              <a:t>than</a:t>
            </a:r>
            <a:r>
              <a:rPr lang="es-ES" sz="1200" noProof="0" dirty="0">
                <a:latin typeface="Arial" panose="020B0604020202020204" pitchFamily="34" charset="0"/>
                <a:cs typeface="Arial" panose="020B0604020202020204" pitchFamily="34" charset="0"/>
              </a:rPr>
              <a:t> 0.1 dB/90º.</a:t>
            </a:r>
          </a:p>
          <a:p>
            <a:pPr algn="just"/>
            <a:endParaRPr lang="es-ES" sz="1200" noProof="0" dirty="0">
              <a:latin typeface="Arial" panose="020B0604020202020204" pitchFamily="34" charset="0"/>
              <a:cs typeface="Arial" panose="020B0604020202020204" pitchFamily="34" charset="0"/>
            </a:endParaRPr>
          </a:p>
          <a:p>
            <a:pPr algn="just"/>
            <a:r>
              <a:rPr lang="es-ES" sz="1200" noProof="0" dirty="0">
                <a:latin typeface="Arial" panose="020B0604020202020204" pitchFamily="34" charset="0"/>
                <a:cs typeface="Arial" panose="020B0604020202020204" pitchFamily="34" charset="0"/>
              </a:rPr>
              <a:t>Al curvar la guía de Nitruro de Silicio,  el perfil del modo óptico se distorsiona y es desplazado por inercia hacia el borde exterior de la curva. Para radios pequeños (curvas muy cerradas), esta deformación hace que el modo interactúe más con el </a:t>
            </a:r>
            <a:r>
              <a:rPr lang="es-ES" sz="1200" noProof="0" dirty="0" err="1">
                <a:latin typeface="Arial" panose="020B0604020202020204" pitchFamily="34" charset="0"/>
                <a:cs typeface="Arial" panose="020B0604020202020204" pitchFamily="34" charset="0"/>
              </a:rPr>
              <a:t>cladding</a:t>
            </a:r>
            <a:r>
              <a:rPr lang="es-ES" sz="1200" noProof="0" dirty="0">
                <a:latin typeface="Arial" panose="020B0604020202020204" pitchFamily="34" charset="0"/>
                <a:cs typeface="Arial" panose="020B0604020202020204" pitchFamily="34" charset="0"/>
              </a:rPr>
              <a:t>, alterando la velocidad de fase de la luz y, por tanto, su índice efectivo. Sin embargo, a medida que el radio de curvatura aumenta, la guía se asemeja cada vez más a una línea recta; el modo recupera su confinamiento simétrico en el centro del núcleo y el índice efectivo se estabiliza hacia el valor nominal de la guía recta.</a:t>
            </a:r>
          </a:p>
          <a:p>
            <a:pPr algn="just"/>
            <a:endParaRPr lang="es-ES"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8" name="CuadroTexto 7">
            <a:extLst>
              <a:ext uri="{FF2B5EF4-FFF2-40B4-BE49-F238E27FC236}">
                <a16:creationId xmlns:a16="http://schemas.microsoft.com/office/drawing/2014/main" id="{331EBD86-BA6C-68C9-2D38-FC8CFBA7ADC4}"/>
              </a:ext>
            </a:extLst>
          </p:cNvPr>
          <p:cNvSpPr txBox="1"/>
          <p:nvPr/>
        </p:nvSpPr>
        <p:spPr>
          <a:xfrm>
            <a:off x="2978141" y="2784355"/>
            <a:ext cx="6235717" cy="923330"/>
          </a:xfrm>
          <a:prstGeom prst="rect">
            <a:avLst/>
          </a:prstGeom>
          <a:noFill/>
        </p:spPr>
        <p:txBody>
          <a:bodyPr wrap="square" rtlCol="0">
            <a:spAutoFit/>
          </a:bodyPr>
          <a:lstStyle/>
          <a:p>
            <a:pPr algn="ctr"/>
            <a:r>
              <a:rPr lang="es-ES" b="1" noProof="0" dirty="0" err="1"/>
              <a:t>deep</a:t>
            </a:r>
            <a:r>
              <a:rPr lang="es-ES" noProof="0" dirty="0"/>
              <a:t> </a:t>
            </a:r>
            <a:r>
              <a:rPr lang="es-ES" noProof="0" dirty="0" err="1"/>
              <a:t>waveguide</a:t>
            </a:r>
            <a:endParaRPr lang="es-ES" noProof="0" dirty="0"/>
          </a:p>
          <a:p>
            <a:pPr algn="ctr"/>
            <a:endParaRPr lang="es-ES" noProof="0" dirty="0"/>
          </a:p>
          <a:p>
            <a:pPr algn="ctr"/>
            <a:r>
              <a:rPr lang="es-ES" noProof="0" dirty="0"/>
              <a:t>Paste Total </a:t>
            </a:r>
            <a:r>
              <a:rPr lang="es-ES" noProof="0" dirty="0" err="1"/>
              <a:t>Loss</a:t>
            </a:r>
            <a:r>
              <a:rPr lang="es-ES" noProof="0" dirty="0"/>
              <a:t> (dB/90º) vs R &amp; neff_TE0 vs R</a:t>
            </a:r>
          </a:p>
        </p:txBody>
      </p:sp>
      <p:pic>
        <p:nvPicPr>
          <p:cNvPr id="9" name="Imagen 8">
            <a:extLst>
              <a:ext uri="{FF2B5EF4-FFF2-40B4-BE49-F238E27FC236}">
                <a16:creationId xmlns:a16="http://schemas.microsoft.com/office/drawing/2014/main" id="{17A16C4F-CD92-5F88-E5B3-8BA5AA101B2E}"/>
              </a:ext>
            </a:extLst>
          </p:cNvPr>
          <p:cNvPicPr>
            <a:picLocks noChangeAspect="1"/>
          </p:cNvPicPr>
          <p:nvPr/>
        </p:nvPicPr>
        <p:blipFill>
          <a:blip r:embed="rId5"/>
          <a:stretch>
            <a:fillRect/>
          </a:stretch>
        </p:blipFill>
        <p:spPr>
          <a:xfrm>
            <a:off x="877706" y="1544872"/>
            <a:ext cx="3864933" cy="3053030"/>
          </a:xfrm>
          <a:prstGeom prst="rect">
            <a:avLst/>
          </a:prstGeom>
        </p:spPr>
      </p:pic>
      <p:pic>
        <p:nvPicPr>
          <p:cNvPr id="5" name="Imagen 4">
            <a:extLst>
              <a:ext uri="{FF2B5EF4-FFF2-40B4-BE49-F238E27FC236}">
                <a16:creationId xmlns:a16="http://schemas.microsoft.com/office/drawing/2014/main" id="{68194AAA-9E90-8050-E6E1-B7B9D4E1BE90}"/>
              </a:ext>
            </a:extLst>
          </p:cNvPr>
          <p:cNvPicPr>
            <a:picLocks noChangeAspect="1"/>
          </p:cNvPicPr>
          <p:nvPr/>
        </p:nvPicPr>
        <p:blipFill>
          <a:blip r:embed="rId6"/>
          <a:stretch>
            <a:fillRect/>
          </a:stretch>
        </p:blipFill>
        <p:spPr>
          <a:xfrm>
            <a:off x="6776940" y="1544872"/>
            <a:ext cx="4845388" cy="3005368"/>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FF5331F-0061-20A9-9DDB-C064365A5FB1}"/>
              </a:ext>
            </a:extLst>
          </p:cNvPr>
          <p:cNvSpPr>
            <a:spLocks noGrp="1"/>
          </p:cNvSpPr>
          <p:nvPr>
            <p:ph type="body" idx="1"/>
          </p:nvPr>
        </p:nvSpPr>
        <p:spPr>
          <a:xfrm>
            <a:off x="1244009" y="1472427"/>
            <a:ext cx="9854609" cy="2954655"/>
          </a:xfrm>
        </p:spPr>
        <p:txBody>
          <a:bodyPr/>
          <a:lstStyle/>
          <a:p>
            <a:pPr algn="just"/>
            <a:r>
              <a:rPr lang="es-ES" sz="1200" i="0" u="none" strike="noStrike">
                <a:solidFill>
                  <a:srgbClr val="000000"/>
                </a:solidFill>
                <a:effectLst/>
                <a:latin typeface="Arial" panose="020B0604020202020204" pitchFamily="34" charset="0"/>
                <a:cs typeface="Arial" panose="020B0604020202020204" pitchFamily="34" charset="0"/>
              </a:rPr>
              <a:t>El fenómeno de pérdida por desajuste de modo (</a:t>
            </a:r>
            <a:r>
              <a:rPr lang="es-ES" sz="1200" i="1" u="none" strike="noStrike" err="1">
                <a:solidFill>
                  <a:srgbClr val="000000"/>
                </a:solidFill>
                <a:effectLst/>
                <a:latin typeface="Arial" panose="020B0604020202020204" pitchFamily="34" charset="0"/>
                <a:cs typeface="Arial" panose="020B0604020202020204" pitchFamily="34" charset="0"/>
              </a:rPr>
              <a:t>mode</a:t>
            </a:r>
            <a:r>
              <a:rPr lang="es-ES" sz="1200" i="1" u="none" strike="noStrike">
                <a:solidFill>
                  <a:srgbClr val="000000"/>
                </a:solidFill>
                <a:effectLst/>
                <a:latin typeface="Arial" panose="020B0604020202020204" pitchFamily="34" charset="0"/>
                <a:cs typeface="Arial" panose="020B0604020202020204" pitchFamily="34" charset="0"/>
              </a:rPr>
              <a:t> </a:t>
            </a:r>
            <a:r>
              <a:rPr lang="es-ES" sz="1200" i="1" u="none" strike="noStrike" err="1">
                <a:solidFill>
                  <a:srgbClr val="000000"/>
                </a:solidFill>
                <a:effectLst/>
                <a:latin typeface="Arial" panose="020B0604020202020204" pitchFamily="34" charset="0"/>
                <a:cs typeface="Arial" panose="020B0604020202020204" pitchFamily="34" charset="0"/>
              </a:rPr>
              <a:t>mismatch</a:t>
            </a:r>
            <a:r>
              <a:rPr lang="es-ES" sz="1200" i="0" u="none" strike="noStrike">
                <a:solidFill>
                  <a:srgbClr val="000000"/>
                </a:solidFill>
                <a:effectLst/>
                <a:latin typeface="Arial" panose="020B0604020202020204" pitchFamily="34" charset="0"/>
                <a:cs typeface="Arial" panose="020B0604020202020204" pitchFamily="34" charset="0"/>
              </a:rPr>
              <a:t>) ocurre cuando el radio de curvatura es pequeño, provocando que la intensidad del campo se desplace hacia la pared exterior (derecha) y altere su índice efectivo. Mientras que en radios grandes la curva se parece a una recta y el perfil del campo no varía mucho, en radios pequeños la interacción con las paredes genera un desequilibrio que dificulta la transferencia de energía al conectar tramos rectos con curvos.</a:t>
            </a:r>
          </a:p>
          <a:p>
            <a:pPr algn="just"/>
            <a:endParaRPr lang="es-ES" sz="1200" i="0" u="none" strike="noStrike">
              <a:solidFill>
                <a:srgbClr val="000000"/>
              </a:solidFill>
              <a:effectLst/>
              <a:latin typeface="Arial" panose="020B0604020202020204" pitchFamily="34" charset="0"/>
              <a:cs typeface="Arial" panose="020B0604020202020204" pitchFamily="34" charset="0"/>
            </a:endParaRPr>
          </a:p>
          <a:p>
            <a:pPr algn="just"/>
            <a:r>
              <a:rPr lang="es-ES" sz="1200" i="0" u="none" strike="noStrike">
                <a:solidFill>
                  <a:srgbClr val="000000"/>
                </a:solidFill>
                <a:effectLst/>
                <a:latin typeface="Arial" panose="020B0604020202020204" pitchFamily="34" charset="0"/>
                <a:cs typeface="Arial" panose="020B0604020202020204" pitchFamily="34" charset="0"/>
              </a:rPr>
              <a:t>Por otro lado, las pérdidas de propagación están ligadas directamente a la geometría de la guía, ya que un aumento en el radio incrementa el perímetro y por lo tanto el recorrido total de la onda. Este efecto genera una atenuación mayor conforme la distancia recorrida es más larga. establece una dependencia crítica entre la longitud física del dispositivo, curvatura y la potencia final de la señal transmitida.</a:t>
            </a:r>
          </a:p>
          <a:p>
            <a:pPr algn="just"/>
            <a:endParaRPr lang="es-ES" sz="1200" i="0" u="none" strike="noStrike">
              <a:solidFill>
                <a:srgbClr val="000000"/>
              </a:solidFill>
              <a:effectLst/>
              <a:latin typeface="Arial" panose="020B0604020202020204" pitchFamily="34" charset="0"/>
              <a:cs typeface="Arial" panose="020B0604020202020204" pitchFamily="34" charset="0"/>
            </a:endParaRPr>
          </a:p>
          <a:p>
            <a:pPr algn="just"/>
            <a:r>
              <a:rPr lang="es-ES" sz="1200" i="0" u="none" strike="noStrike">
                <a:solidFill>
                  <a:srgbClr val="000000"/>
                </a:solidFill>
                <a:effectLst/>
                <a:latin typeface="Arial" panose="020B0604020202020204" pitchFamily="34" charset="0"/>
                <a:cs typeface="Arial" panose="020B0604020202020204" pitchFamily="34" charset="0"/>
              </a:rPr>
              <a:t>Para optimizar el diseño, se debe resolver el compromiso entre ambos mecanismos de pérdida. Tras evaluar el sistema con la función </a:t>
            </a:r>
            <a:r>
              <a:rPr lang="es-ES" sz="1200" i="1" u="none" strike="noStrike" err="1">
                <a:solidFill>
                  <a:srgbClr val="000000"/>
                </a:solidFill>
                <a:effectLst/>
                <a:latin typeface="Arial" panose="020B0604020202020204" pitchFamily="34" charset="0"/>
                <a:cs typeface="Arial" panose="020B0604020202020204" pitchFamily="34" charset="0"/>
              </a:rPr>
              <a:t>gt.modes.sweep_bend_mismatch</a:t>
            </a:r>
            <a:r>
              <a:rPr lang="es-ES" sz="1200" i="0" u="none" strike="noStrike">
                <a:solidFill>
                  <a:srgbClr val="000000"/>
                </a:solidFill>
                <a:effectLst/>
                <a:latin typeface="Arial" panose="020B0604020202020204" pitchFamily="34" charset="0"/>
                <a:cs typeface="Arial" panose="020B0604020202020204" pitchFamily="34" charset="0"/>
              </a:rPr>
              <a:t>, se observa que a radios bajos predomina el desajuste de modo, mientras que a radios altos las pérdidas por propagación se vuelven críticas. </a:t>
            </a:r>
          </a:p>
          <a:p>
            <a:pPr algn="just"/>
            <a:endParaRPr lang="es-ES" sz="1200">
              <a:solidFill>
                <a:srgbClr val="000000"/>
              </a:solidFill>
              <a:latin typeface="Arial" panose="020B0604020202020204" pitchFamily="34" charset="0"/>
              <a:cs typeface="Arial" panose="020B0604020202020204" pitchFamily="34" charset="0"/>
            </a:endParaRPr>
          </a:p>
          <a:p>
            <a:pPr algn="just"/>
            <a:r>
              <a:rPr lang="es-ES" sz="1200" i="0" u="none" strike="noStrike">
                <a:solidFill>
                  <a:srgbClr val="000000"/>
                </a:solidFill>
                <a:effectLst/>
                <a:latin typeface="Arial" panose="020B0604020202020204" pitchFamily="34" charset="0"/>
                <a:cs typeface="Arial" panose="020B0604020202020204" pitchFamily="34" charset="0"/>
              </a:rPr>
              <a:t>El punto de operación ideal para minimizar las pérdidas totales se sitúa en un rango de radio entre 75 y 80.</a:t>
            </a:r>
          </a:p>
          <a:p>
            <a:endParaRPr lang="es-ES" sz="1200">
              <a:solidFill>
                <a:srgbClr val="3B3B3B"/>
              </a:solidFill>
              <a:effectLst/>
              <a:highlight>
                <a:srgbClr val="FFFFFF"/>
              </a:highlight>
              <a:latin typeface="Arial" panose="020B0604020202020204" pitchFamily="34" charset="0"/>
              <a:cs typeface="Arial" panose="020B0604020202020204" pitchFamily="34" charset="0"/>
            </a:endParaRPr>
          </a:p>
          <a:p>
            <a:endParaRPr lang="es-ES" sz="1200" b="0">
              <a:solidFill>
                <a:srgbClr val="3B3B3B"/>
              </a:solidFill>
              <a:effectLst/>
              <a:highlight>
                <a:srgbClr val="FFFFFF"/>
              </a:highlight>
              <a:latin typeface="Menlo" panose="020B0609030804020204" pitchFamily="49" charset="0"/>
            </a:endParaRPr>
          </a:p>
        </p:txBody>
      </p:sp>
      <p:sp>
        <p:nvSpPr>
          <p:cNvPr id="4" name="Marcador de pie de página 3">
            <a:extLst>
              <a:ext uri="{FF2B5EF4-FFF2-40B4-BE49-F238E27FC236}">
                <a16:creationId xmlns:a16="http://schemas.microsoft.com/office/drawing/2014/main" id="{473FE24B-2978-E375-F239-776494FACB58}"/>
              </a:ext>
            </a:extLst>
          </p:cNvPr>
          <p:cNvSpPr>
            <a:spLocks noGrp="1"/>
          </p:cNvSpPr>
          <p:nvPr>
            <p:ph type="ftr" sz="quarter" idx="5"/>
          </p:nvPr>
        </p:nvSpPr>
        <p:spPr/>
        <p:txBody>
          <a:bodyPr/>
          <a:lstStyle/>
          <a:p>
            <a:pPr marL="12700">
              <a:spcBef>
                <a:spcPts val="15"/>
              </a:spcBef>
            </a:pPr>
            <a:r>
              <a:rPr lang="es-ES" spc="-5"/>
              <a:t>LAB 1.0 WAVEGUIDES</a:t>
            </a:r>
          </a:p>
        </p:txBody>
      </p:sp>
      <p:sp>
        <p:nvSpPr>
          <p:cNvPr id="5" name="Marcador de número de diapositiva 4">
            <a:extLst>
              <a:ext uri="{FF2B5EF4-FFF2-40B4-BE49-F238E27FC236}">
                <a16:creationId xmlns:a16="http://schemas.microsoft.com/office/drawing/2014/main" id="{87A69B0B-186D-C8C6-BBC6-EE80FB150D73}"/>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6" name="Rectángulo 5">
            <a:extLst>
              <a:ext uri="{FF2B5EF4-FFF2-40B4-BE49-F238E27FC236}">
                <a16:creationId xmlns:a16="http://schemas.microsoft.com/office/drawing/2014/main" id="{41E74DFB-1445-34C8-3FA7-29A99A682D66}"/>
              </a:ext>
            </a:extLst>
          </p:cNvPr>
          <p:cNvSpPr/>
          <p:nvPr/>
        </p:nvSpPr>
        <p:spPr>
          <a:xfrm>
            <a:off x="609441" y="609600"/>
            <a:ext cx="11199971"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Tree>
    <p:extLst>
      <p:ext uri="{BB962C8B-B14F-4D97-AF65-F5344CB8AC3E}">
        <p14:creationId xmlns:p14="http://schemas.microsoft.com/office/powerpoint/2010/main" val="1319890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s-ES" sz="2500" noProof="0" dirty="0"/>
              <a:t>Extra</a:t>
            </a:r>
            <a:br>
              <a:rPr lang="es-ES" sz="2500" noProof="0" dirty="0"/>
            </a:br>
            <a:r>
              <a:rPr lang="es-ES" b="0" dirty="0">
                <a:effectLst/>
                <a:highlight>
                  <a:srgbClr val="FFFFFF"/>
                </a:highlight>
                <a:latin typeface="Calibri" panose="020F0502020204030204" pitchFamily="34" charset="0"/>
                <a:cs typeface="Calibri" panose="020F0502020204030204" pitchFamily="34" charset="0"/>
              </a:rPr>
              <a:t>1.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Repeat</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the</a:t>
            </a:r>
            <a:r>
              <a:rPr lang="es-ES" b="0" dirty="0">
                <a:solidFill>
                  <a:srgbClr val="3B3B3B"/>
                </a:solidFill>
                <a:effectLst/>
                <a:highlight>
                  <a:srgbClr val="FFFFFF"/>
                </a:highlight>
                <a:latin typeface="Calibri" panose="020F0502020204030204" pitchFamily="34" charset="0"/>
                <a:cs typeface="Calibri" panose="020F0502020204030204" pitchFamily="34" charset="0"/>
              </a:rPr>
              <a:t> LO.2.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wavelength</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behavior</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simulations</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considering</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the</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updated</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materials</a:t>
            </a:r>
            <a:r>
              <a:rPr lang="es-ES" b="0" dirty="0">
                <a:solidFill>
                  <a:srgbClr val="3B3B3B"/>
                </a:solidFill>
                <a:effectLst/>
                <a:highlight>
                  <a:srgbClr val="FFFFFF"/>
                </a:highlight>
                <a:latin typeface="Calibri" panose="020F0502020204030204" pitchFamily="34" charset="0"/>
                <a:cs typeface="Calibri" panose="020F0502020204030204" pitchFamily="34" charset="0"/>
              </a:rPr>
              <a:t> and </a:t>
            </a:r>
            <a:r>
              <a:rPr lang="es-ES" b="0" dirty="0" err="1">
                <a:solidFill>
                  <a:srgbClr val="3B3B3B"/>
                </a:solidFill>
                <a:effectLst/>
                <a:highlight>
                  <a:srgbClr val="FFFFFF"/>
                </a:highlight>
                <a:latin typeface="Calibri" panose="020F0502020204030204" pitchFamily="34" charset="0"/>
                <a:cs typeface="Calibri" panose="020F0502020204030204" pitchFamily="34" charset="0"/>
              </a:rPr>
              <a:t>dimensions</a:t>
            </a:r>
            <a:r>
              <a:rPr lang="es-ES" b="0" dirty="0">
                <a:solidFill>
                  <a:srgbClr val="3B3B3B"/>
                </a:solidFill>
                <a:effectLst/>
                <a:highlight>
                  <a:srgbClr val="FFFFFF"/>
                </a:highlight>
                <a:latin typeface="Calibri" panose="020F0502020204030204" pitchFamily="34" charset="0"/>
                <a:cs typeface="Calibri" panose="020F0502020204030204" pitchFamily="34" charset="0"/>
              </a:rPr>
              <a:t>. </a:t>
            </a:r>
            <a:br>
              <a:rPr lang="es-ES" b="0" dirty="0">
                <a:solidFill>
                  <a:srgbClr val="3B3B3B"/>
                </a:solidFill>
                <a:effectLst/>
                <a:highlight>
                  <a:srgbClr val="FFFFFF"/>
                </a:highlight>
                <a:latin typeface="Menlo" panose="020B0609030804020204" pitchFamily="49" charset="0"/>
              </a:rPr>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17</a:t>
            </a:fld>
            <a:endParaRPr lang="es-ES" noProof="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a:t>LAB 1.0 WAVEGUIDES</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46634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4" name="Marcador de texto 2">
            <a:extLst>
              <a:ext uri="{FF2B5EF4-FFF2-40B4-BE49-F238E27FC236}">
                <a16:creationId xmlns:a16="http://schemas.microsoft.com/office/drawing/2014/main" id="{FC1887CB-4861-23C8-EB31-962F2C3FC044}"/>
              </a:ext>
            </a:extLst>
          </p:cNvPr>
          <p:cNvSpPr>
            <a:spLocks noGrp="1"/>
          </p:cNvSpPr>
          <p:nvPr>
            <p:ph type="body" idx="1"/>
          </p:nvPr>
        </p:nvSpPr>
        <p:spPr>
          <a:xfrm>
            <a:off x="946128" y="1649727"/>
            <a:ext cx="10508454" cy="1477328"/>
          </a:xfrm>
        </p:spPr>
        <p:txBody>
          <a:bodyPr/>
          <a:lstStyle/>
          <a:p>
            <a:pPr algn="just"/>
            <a:r>
              <a:rPr lang="es-ES" sz="1200" i="0" u="none" strike="noStrike" dirty="0">
                <a:solidFill>
                  <a:srgbClr val="000000"/>
                </a:solidFill>
                <a:effectLst/>
                <a:latin typeface="Arial" panose="020B0604020202020204" pitchFamily="34" charset="0"/>
                <a:cs typeface="Arial" panose="020B0604020202020204" pitchFamily="34" charset="0"/>
              </a:rPr>
              <a:t> En primer lugar, debido al alto contraste entre el índice del silicio (3,47) y el del revestimiento de dióxido de silicio (1,44), la luz experimenta un confinamiento muy grande en el núcleo, lo que da como resultado un índice efectivo inicial muy elevado (cercano a 2,5 para el modo TE0), significativamente superior al obtenido con </a:t>
            </a:r>
            <a:r>
              <a:rPr lang="es-ES" sz="1200" i="0" u="none" strike="noStrike" dirty="0" err="1">
                <a:solidFill>
                  <a:srgbClr val="000000"/>
                </a:solidFill>
                <a:effectLst/>
                <a:latin typeface="Arial" panose="020B0604020202020204" pitchFamily="34" charset="0"/>
                <a:cs typeface="Arial" panose="020B0604020202020204" pitchFamily="34" charset="0"/>
              </a:rPr>
              <a:t>SiNx</a:t>
            </a:r>
            <a:r>
              <a:rPr lang="es-ES" sz="1200" i="0" u="none" strike="noStrike" dirty="0">
                <a:solidFill>
                  <a:srgbClr val="000000"/>
                </a:solidFill>
                <a:effectLst/>
                <a:latin typeface="Arial" panose="020B0604020202020204" pitchFamily="34" charset="0"/>
                <a:cs typeface="Arial" panose="020B0604020202020204" pitchFamily="34" charset="0"/>
              </a:rPr>
              <a:t>.  </a:t>
            </a:r>
          </a:p>
          <a:p>
            <a:pPr algn="just"/>
            <a:r>
              <a:rPr lang="es-ES" sz="1200" i="0" u="none" strike="noStrike" dirty="0">
                <a:solidFill>
                  <a:srgbClr val="000000"/>
                </a:solidFill>
                <a:effectLst/>
                <a:latin typeface="Arial" panose="020B0604020202020204" pitchFamily="34" charset="0"/>
                <a:cs typeface="Arial" panose="020B0604020202020204" pitchFamily="34" charset="0"/>
              </a:rPr>
              <a:t>En segundo lugar, la gráfica de este ejercicio (Silicio sobre Aislante) muestra una pendiente mucho más negativa respecto al ejercicio 02 (Nitruro de Silicio). </a:t>
            </a:r>
            <a:r>
              <a:rPr lang="es-ES" sz="1200" b="0" i="0" u="none" strike="noStrike" dirty="0">
                <a:solidFill>
                  <a:srgbClr val="000000"/>
                </a:solidFill>
                <a:effectLst/>
                <a:latin typeface="Arial" panose="020B0604020202020204" pitchFamily="34" charset="0"/>
                <a:cs typeface="Arial" panose="020B0604020202020204" pitchFamily="34" charset="0"/>
              </a:rPr>
              <a:t>Esta mayor sensibilidad espectral en la guía de silicio se debe al elevado contraste de índice del material y a sus dimensiones más reducidas, lo que se traduce en un índice de grupo (ng​) superior.</a:t>
            </a:r>
          </a:p>
          <a:p>
            <a:endParaRPr lang="es-ES" sz="1200" dirty="0">
              <a:solidFill>
                <a:srgbClr val="3B3B3B"/>
              </a:solidFill>
              <a:effectLst/>
              <a:highlight>
                <a:srgbClr val="FFFFFF"/>
              </a:highlight>
              <a:latin typeface="Arial" panose="020B0604020202020204" pitchFamily="34" charset="0"/>
              <a:cs typeface="Arial" panose="020B0604020202020204" pitchFamily="34" charset="0"/>
            </a:endParaRPr>
          </a:p>
          <a:p>
            <a:endParaRPr lang="es-ES" sz="1200" b="0" dirty="0">
              <a:solidFill>
                <a:srgbClr val="3B3B3B"/>
              </a:solidFill>
              <a:effectLst/>
              <a:highlight>
                <a:srgbClr val="FFFFFF"/>
              </a:highlight>
              <a:latin typeface="Menlo" panose="020B0609030804020204" pitchFamily="49" charset="0"/>
            </a:endParaRPr>
          </a:p>
        </p:txBody>
      </p:sp>
      <p:pic>
        <p:nvPicPr>
          <p:cNvPr id="5" name="Imagen 4">
            <a:extLst>
              <a:ext uri="{FF2B5EF4-FFF2-40B4-BE49-F238E27FC236}">
                <a16:creationId xmlns:a16="http://schemas.microsoft.com/office/drawing/2014/main" id="{C2354DDA-5D81-FC3A-7FCD-2514D42F3D60}"/>
              </a:ext>
            </a:extLst>
          </p:cNvPr>
          <p:cNvPicPr>
            <a:picLocks noChangeAspect="1"/>
          </p:cNvPicPr>
          <p:nvPr/>
        </p:nvPicPr>
        <p:blipFill>
          <a:blip r:embed="rId5"/>
          <a:stretch>
            <a:fillRect/>
          </a:stretch>
        </p:blipFill>
        <p:spPr>
          <a:xfrm>
            <a:off x="3352800" y="2893136"/>
            <a:ext cx="4994482" cy="3097844"/>
          </a:xfrm>
          <a:prstGeom prst="rect">
            <a:avLst/>
          </a:prstGeom>
        </p:spPr>
      </p:pic>
    </p:spTree>
    <p:extLst>
      <p:ext uri="{BB962C8B-B14F-4D97-AF65-F5344CB8AC3E}">
        <p14:creationId xmlns:p14="http://schemas.microsoft.com/office/powerpoint/2010/main" val="3074563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s-ES" sz="2500" noProof="0" dirty="0"/>
              <a:t>Extra</a:t>
            </a:r>
            <a:br>
              <a:rPr lang="es-ES" sz="2500" noProof="0" dirty="0"/>
            </a:br>
            <a:r>
              <a:rPr lang="es-ES" b="0" dirty="0">
                <a:effectLst/>
                <a:highlight>
                  <a:srgbClr val="FFFFFF"/>
                </a:highlight>
                <a:latin typeface="Calibri" panose="020F0502020204030204" pitchFamily="34" charset="0"/>
                <a:cs typeface="Calibri" panose="020F0502020204030204" pitchFamily="34" charset="0"/>
              </a:rPr>
              <a:t>2. </a:t>
            </a:r>
            <a:r>
              <a:rPr lang="es-ES" b="0" dirty="0" err="1">
                <a:effectLst/>
                <a:highlight>
                  <a:srgbClr val="FFFFFF"/>
                </a:highlight>
                <a:latin typeface="Calibri" panose="020F0502020204030204" pitchFamily="34" charset="0"/>
                <a:cs typeface="Calibri" panose="020F0502020204030204" pitchFamily="34" charset="0"/>
              </a:rPr>
              <a:t>Repeat</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the</a:t>
            </a:r>
            <a:r>
              <a:rPr lang="es-ES" b="0" dirty="0">
                <a:effectLst/>
                <a:highlight>
                  <a:srgbClr val="FFFFFF"/>
                </a:highlight>
                <a:latin typeface="Calibri" panose="020F0502020204030204" pitchFamily="34" charset="0"/>
                <a:cs typeface="Calibri" panose="020F0502020204030204" pitchFamily="34" charset="0"/>
              </a:rPr>
              <a:t> LO.3. </a:t>
            </a:r>
            <a:r>
              <a:rPr lang="es-ES" b="0" dirty="0" err="1">
                <a:effectLst/>
                <a:highlight>
                  <a:srgbClr val="FFFFFF"/>
                </a:highlight>
                <a:latin typeface="Calibri" panose="020F0502020204030204" pitchFamily="34" charset="0"/>
                <a:cs typeface="Calibri" panose="020F0502020204030204" pitchFamily="34" charset="0"/>
              </a:rPr>
              <a:t>width</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dependence</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analysis</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now</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sweeping</a:t>
            </a:r>
            <a:r>
              <a:rPr lang="es-ES" b="0" dirty="0">
                <a:effectLst/>
                <a:highlight>
                  <a:srgbClr val="FFFFFF"/>
                </a:highlight>
                <a:latin typeface="Calibri" panose="020F0502020204030204" pitchFamily="34" charset="0"/>
                <a:cs typeface="Calibri" panose="020F0502020204030204" pitchFamily="34" charset="0"/>
              </a:rPr>
              <a:t> in a 300nm - 1um </a:t>
            </a:r>
            <a:r>
              <a:rPr lang="es-ES" b="0" dirty="0" err="1">
                <a:effectLst/>
                <a:highlight>
                  <a:srgbClr val="FFFFFF"/>
                </a:highlight>
                <a:latin typeface="Calibri" panose="020F0502020204030204" pitchFamily="34" charset="0"/>
                <a:cs typeface="Calibri" panose="020F0502020204030204" pitchFamily="34" charset="0"/>
              </a:rPr>
              <a:t>range</a:t>
            </a:r>
            <a:r>
              <a:rPr lang="es-ES" b="0" dirty="0">
                <a:effectLst/>
                <a:highlight>
                  <a:srgbClr val="FFFFFF"/>
                </a:highlight>
                <a:latin typeface="Calibri" panose="020F0502020204030204" pitchFamily="34" charset="0"/>
                <a:cs typeface="Calibri" panose="020F0502020204030204" pitchFamily="34" charset="0"/>
              </a:rPr>
              <a:t>. </a:t>
            </a:r>
            <a:br>
              <a:rPr lang="es-ES" b="0" dirty="0">
                <a:solidFill>
                  <a:srgbClr val="3B3B3B"/>
                </a:solidFill>
                <a:effectLst/>
                <a:highlight>
                  <a:srgbClr val="FFFFFF"/>
                </a:highlight>
                <a:latin typeface="Menlo" panose="020B0609030804020204" pitchFamily="49" charset="0"/>
              </a:rPr>
            </a:br>
            <a:br>
              <a:rPr lang="es-ES" b="0" dirty="0">
                <a:solidFill>
                  <a:srgbClr val="3B3B3B"/>
                </a:solidFill>
                <a:effectLst/>
                <a:highlight>
                  <a:srgbClr val="FFFFFF"/>
                </a:highlight>
                <a:latin typeface="Menlo" panose="020B0609030804020204" pitchFamily="49" charset="0"/>
              </a:rPr>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18</a:t>
            </a:fld>
            <a:endParaRPr lang="es-ES" noProof="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a:t>LAB 1.0 WAVEGUIDES</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46634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4" name="Marcador de texto 2">
            <a:extLst>
              <a:ext uri="{FF2B5EF4-FFF2-40B4-BE49-F238E27FC236}">
                <a16:creationId xmlns:a16="http://schemas.microsoft.com/office/drawing/2014/main" id="{FC1887CB-4861-23C8-EB31-962F2C3FC044}"/>
              </a:ext>
            </a:extLst>
          </p:cNvPr>
          <p:cNvSpPr>
            <a:spLocks noGrp="1"/>
          </p:cNvSpPr>
          <p:nvPr>
            <p:ph type="body" idx="1"/>
          </p:nvPr>
        </p:nvSpPr>
        <p:spPr>
          <a:xfrm>
            <a:off x="1031358" y="1637424"/>
            <a:ext cx="10215762" cy="1107996"/>
          </a:xfrm>
        </p:spPr>
        <p:txBody>
          <a:bodyPr/>
          <a:lstStyle/>
          <a:p>
            <a:pPr algn="just"/>
            <a:r>
              <a:rPr lang="es-ES" sz="1200" dirty="0">
                <a:solidFill>
                  <a:srgbClr val="000000"/>
                </a:solidFill>
                <a:latin typeface="Arial" panose="020B0604020202020204" pitchFamily="34" charset="0"/>
                <a:cs typeface="Arial" panose="020B0604020202020204" pitchFamily="34" charset="0"/>
              </a:rPr>
              <a:t>Si se repite el LO.3 con los nuevos parámetros, se observa que esta nueva guía es capaz de guiar modos a menor anchura. Esto resulta práctico, ya que este nuevo material permite realizar diseños mucho más compactos. Al cambiar el material por uno que aumenta el confinamiento, podemos lograr los mismos resultados con tamaños 3 veces más pequeños. Sin embargo, no siempre esto es conveniente ya que que se propaguen todos los modos puede conducir a </a:t>
            </a:r>
            <a:r>
              <a:rPr lang="es-ES" sz="1200" b="0" i="0" u="none" strike="noStrike" dirty="0">
                <a:solidFill>
                  <a:srgbClr val="000000"/>
                </a:solidFill>
                <a:effectLst/>
                <a:latin typeface="Arial" panose="020B0604020202020204" pitchFamily="34" charset="0"/>
                <a:cs typeface="Arial" panose="020B0604020202020204" pitchFamily="34" charset="0"/>
              </a:rPr>
              <a:t> una distorsionan la señal (dispersión modal)</a:t>
            </a:r>
            <a:r>
              <a:rPr lang="es-ES" sz="1200" dirty="0">
                <a:solidFill>
                  <a:srgbClr val="000000"/>
                </a:solidFill>
                <a:latin typeface="Arial" panose="020B0604020202020204" pitchFamily="34" charset="0"/>
                <a:cs typeface="Arial" panose="020B0604020202020204" pitchFamily="34" charset="0"/>
              </a:rPr>
              <a:t> ya</a:t>
            </a:r>
            <a:r>
              <a:rPr lang="es-ES" sz="1200" b="0" i="0" u="none" strike="noStrike" dirty="0">
                <a:solidFill>
                  <a:srgbClr val="000000"/>
                </a:solidFill>
                <a:effectLst/>
                <a:latin typeface="Arial" panose="020B0604020202020204" pitchFamily="34" charset="0"/>
                <a:cs typeface="Arial" panose="020B0604020202020204" pitchFamily="34" charset="0"/>
              </a:rPr>
              <a:t> que los diferentes modos viajan a distintas velocidades.</a:t>
            </a:r>
          </a:p>
          <a:p>
            <a:pPr algn="just"/>
            <a:endParaRPr lang="es-ES" sz="1200" dirty="0">
              <a:solidFill>
                <a:srgbClr val="000000"/>
              </a:solidFill>
              <a:latin typeface="Arial" panose="020B0604020202020204" pitchFamily="34" charset="0"/>
              <a:cs typeface="Arial" panose="020B0604020202020204" pitchFamily="34" charset="0"/>
            </a:endParaRPr>
          </a:p>
          <a:p>
            <a:endParaRPr lang="es-ES" sz="1200" b="0" dirty="0">
              <a:solidFill>
                <a:srgbClr val="3B3B3B"/>
              </a:solidFill>
              <a:effectLst/>
              <a:highlight>
                <a:srgbClr val="FFFFFF"/>
              </a:highlight>
              <a:latin typeface="Menlo" panose="020B0609030804020204" pitchFamily="49" charset="0"/>
            </a:endParaRPr>
          </a:p>
        </p:txBody>
      </p:sp>
      <p:pic>
        <p:nvPicPr>
          <p:cNvPr id="5" name="Imagen 4">
            <a:extLst>
              <a:ext uri="{FF2B5EF4-FFF2-40B4-BE49-F238E27FC236}">
                <a16:creationId xmlns:a16="http://schemas.microsoft.com/office/drawing/2014/main" id="{76B33248-414C-368E-9084-F7D88270162B}"/>
              </a:ext>
            </a:extLst>
          </p:cNvPr>
          <p:cNvPicPr>
            <a:picLocks noChangeAspect="1"/>
          </p:cNvPicPr>
          <p:nvPr/>
        </p:nvPicPr>
        <p:blipFill>
          <a:blip r:embed="rId5"/>
          <a:stretch>
            <a:fillRect/>
          </a:stretch>
        </p:blipFill>
        <p:spPr>
          <a:xfrm>
            <a:off x="3112514" y="2566656"/>
            <a:ext cx="5745381" cy="3344634"/>
          </a:xfrm>
          <a:prstGeom prst="rect">
            <a:avLst/>
          </a:prstGeom>
        </p:spPr>
      </p:pic>
    </p:spTree>
    <p:extLst>
      <p:ext uri="{BB962C8B-B14F-4D97-AF65-F5344CB8AC3E}">
        <p14:creationId xmlns:p14="http://schemas.microsoft.com/office/powerpoint/2010/main" val="3765163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2090316"/>
          </a:xfrm>
          <a:prstGeom prst="rect">
            <a:avLst/>
          </a:prstGeom>
        </p:spPr>
        <p:txBody>
          <a:bodyPr vert="horz" wrap="square" lIns="0" tIns="12700" rIns="0" bIns="0" rtlCol="0">
            <a:spAutoFit/>
          </a:bodyPr>
          <a:lstStyle/>
          <a:p>
            <a:pPr marL="12700">
              <a:spcBef>
                <a:spcPts val="100"/>
              </a:spcBef>
            </a:pPr>
            <a:r>
              <a:rPr lang="es-ES" sz="2500" noProof="0" dirty="0"/>
              <a:t>Extra</a:t>
            </a:r>
            <a:br>
              <a:rPr lang="es-ES" sz="2500" noProof="0" dirty="0"/>
            </a:br>
            <a:r>
              <a:rPr lang="es-ES" b="0" dirty="0">
                <a:effectLst/>
                <a:highlight>
                  <a:srgbClr val="FFFFFF"/>
                </a:highlight>
                <a:latin typeface="Calibri" panose="020F0502020204030204" pitchFamily="34" charset="0"/>
                <a:cs typeface="Calibri" panose="020F0502020204030204" pitchFamily="34" charset="0"/>
              </a:rPr>
              <a:t>3. </a:t>
            </a:r>
            <a:r>
              <a:rPr lang="es-ES" b="0" dirty="0" err="1">
                <a:effectLst/>
                <a:highlight>
                  <a:srgbClr val="FFFFFF"/>
                </a:highlight>
                <a:latin typeface="Calibri" panose="020F0502020204030204" pitchFamily="34" charset="0"/>
                <a:cs typeface="Calibri" panose="020F0502020204030204" pitchFamily="34" charset="0"/>
              </a:rPr>
              <a:t>Find</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the</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safe</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radius</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for</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this</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technology</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Consider</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sweeping</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the</a:t>
            </a:r>
            <a:r>
              <a:rPr lang="es-ES" b="0" dirty="0">
                <a:effectLst/>
                <a:highlight>
                  <a:srgbClr val="FFFFFF"/>
                </a:highlight>
                <a:latin typeface="Calibri" panose="020F0502020204030204" pitchFamily="34" charset="0"/>
                <a:cs typeface="Calibri" panose="020F0502020204030204" pitchFamily="34" charset="0"/>
              </a:rPr>
              <a:t> </a:t>
            </a:r>
            <a:r>
              <a:rPr lang="es-ES" b="0" dirty="0" err="1">
                <a:effectLst/>
                <a:highlight>
                  <a:srgbClr val="FFFFFF"/>
                </a:highlight>
                <a:latin typeface="Calibri" panose="020F0502020204030204" pitchFamily="34" charset="0"/>
                <a:cs typeface="Calibri" panose="020F0502020204030204" pitchFamily="34" charset="0"/>
              </a:rPr>
              <a:t>radius</a:t>
            </a:r>
            <a:r>
              <a:rPr lang="es-ES" b="0" dirty="0">
                <a:effectLst/>
                <a:highlight>
                  <a:srgbClr val="FFFFFF"/>
                </a:highlight>
                <a:latin typeface="Calibri" panose="020F0502020204030204" pitchFamily="34" charset="0"/>
                <a:cs typeface="Calibri" panose="020F0502020204030204" pitchFamily="34" charset="0"/>
              </a:rPr>
              <a:t> in a 5um </a:t>
            </a:r>
            <a:r>
              <a:rPr lang="es-ES" b="0" dirty="0" err="1">
                <a:effectLst/>
                <a:highlight>
                  <a:srgbClr val="FFFFFF"/>
                </a:highlight>
                <a:latin typeface="Calibri" panose="020F0502020204030204" pitchFamily="34" charset="0"/>
                <a:cs typeface="Calibri" panose="020F0502020204030204" pitchFamily="34" charset="0"/>
              </a:rPr>
              <a:t>to</a:t>
            </a:r>
            <a:r>
              <a:rPr lang="es-ES" b="0" dirty="0">
                <a:effectLst/>
                <a:highlight>
                  <a:srgbClr val="FFFFFF"/>
                </a:highlight>
                <a:latin typeface="Calibri" panose="020F0502020204030204" pitchFamily="34" charset="0"/>
                <a:cs typeface="Calibri" panose="020F0502020204030204" pitchFamily="34" charset="0"/>
              </a:rPr>
              <a:t> 30um </a:t>
            </a:r>
            <a:r>
              <a:rPr lang="es-ES" b="0" dirty="0" err="1">
                <a:effectLst/>
                <a:highlight>
                  <a:srgbClr val="FFFFFF"/>
                </a:highlight>
                <a:latin typeface="Calibri" panose="020F0502020204030204" pitchFamily="34" charset="0"/>
                <a:cs typeface="Calibri" panose="020F0502020204030204" pitchFamily="34" charset="0"/>
              </a:rPr>
              <a:t>range</a:t>
            </a:r>
            <a:r>
              <a:rPr lang="es-ES" b="0" dirty="0">
                <a:effectLst/>
                <a:highlight>
                  <a:srgbClr val="FFFFFF"/>
                </a:highlight>
                <a:latin typeface="Calibri" panose="020F0502020204030204" pitchFamily="34" charset="0"/>
                <a:cs typeface="Calibri" panose="020F0502020204030204" pitchFamily="34" charset="0"/>
              </a:rPr>
              <a:t>. </a:t>
            </a:r>
            <a:br>
              <a:rPr lang="es-ES" b="0" dirty="0">
                <a:solidFill>
                  <a:srgbClr val="3B3B3B"/>
                </a:solidFill>
                <a:effectLst/>
                <a:highlight>
                  <a:srgbClr val="FFFFFF"/>
                </a:highlight>
                <a:latin typeface="Menlo" panose="020B0609030804020204" pitchFamily="49" charset="0"/>
              </a:rPr>
            </a:br>
            <a:br>
              <a:rPr lang="es-ES" b="0" dirty="0">
                <a:solidFill>
                  <a:srgbClr val="3B3B3B"/>
                </a:solidFill>
                <a:effectLst/>
                <a:highlight>
                  <a:srgbClr val="FFFFFF"/>
                </a:highlight>
                <a:latin typeface="Menlo" panose="020B0609030804020204" pitchFamily="49" charset="0"/>
              </a:rPr>
            </a:br>
            <a:br>
              <a:rPr lang="es-ES" b="0" dirty="0">
                <a:solidFill>
                  <a:srgbClr val="3B3B3B"/>
                </a:solidFill>
                <a:effectLst/>
                <a:highlight>
                  <a:srgbClr val="FFFFFF"/>
                </a:highlight>
                <a:latin typeface="Menlo" panose="020B0609030804020204" pitchFamily="49" charset="0"/>
              </a:rPr>
            </a:br>
            <a:br>
              <a:rPr lang="es-ES" sz="2500" noProof="0" dirty="0"/>
            </a:br>
            <a:endParaRPr lang="es-ES"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19</a:t>
            </a:fld>
            <a:endParaRPr lang="es-ES" noProof="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a:t>LAB 1.0 WAVEGUIDES</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46634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4" name="Marcador de texto 2">
            <a:extLst>
              <a:ext uri="{FF2B5EF4-FFF2-40B4-BE49-F238E27FC236}">
                <a16:creationId xmlns:a16="http://schemas.microsoft.com/office/drawing/2014/main" id="{FC1887CB-4861-23C8-EB31-962F2C3FC044}"/>
              </a:ext>
            </a:extLst>
          </p:cNvPr>
          <p:cNvSpPr>
            <a:spLocks noGrp="1"/>
          </p:cNvSpPr>
          <p:nvPr>
            <p:ph type="body" idx="1"/>
          </p:nvPr>
        </p:nvSpPr>
        <p:spPr>
          <a:xfrm>
            <a:off x="893136" y="1637414"/>
            <a:ext cx="10561446" cy="369332"/>
          </a:xfrm>
        </p:spPr>
        <p:txBody>
          <a:bodyPr/>
          <a:lstStyle/>
          <a:p>
            <a:pPr algn="just"/>
            <a:r>
              <a:rPr lang="es-ES" sz="1200" i="0" u="none" strike="noStrike" dirty="0">
                <a:solidFill>
                  <a:srgbClr val="000000"/>
                </a:solidFill>
                <a:effectLst/>
                <a:latin typeface="Arial" panose="020B0604020202020204" pitchFamily="34" charset="0"/>
                <a:cs typeface="Arial" panose="020B0604020202020204" pitchFamily="34" charset="0"/>
              </a:rPr>
              <a:t>Si se compara con el resultado obtenido en el ejercicio 5, tenemos que las pérdidas son mucho menores a radios menores. </a:t>
            </a:r>
          </a:p>
          <a:p>
            <a:endParaRPr lang="es-ES" sz="1200" b="0" dirty="0">
              <a:solidFill>
                <a:srgbClr val="3B3B3B"/>
              </a:solidFill>
              <a:effectLst/>
              <a:highlight>
                <a:srgbClr val="FFFFFF"/>
              </a:highlight>
              <a:latin typeface="Menlo" panose="020B0609030804020204" pitchFamily="49" charset="0"/>
            </a:endParaRPr>
          </a:p>
        </p:txBody>
      </p:sp>
      <p:pic>
        <p:nvPicPr>
          <p:cNvPr id="8" name="Imagen 7">
            <a:extLst>
              <a:ext uri="{FF2B5EF4-FFF2-40B4-BE49-F238E27FC236}">
                <a16:creationId xmlns:a16="http://schemas.microsoft.com/office/drawing/2014/main" id="{FD8F957F-E861-698D-4BC8-B761A351D6EA}"/>
              </a:ext>
            </a:extLst>
          </p:cNvPr>
          <p:cNvPicPr>
            <a:picLocks noChangeAspect="1"/>
          </p:cNvPicPr>
          <p:nvPr/>
        </p:nvPicPr>
        <p:blipFill>
          <a:blip r:embed="rId5"/>
          <a:stretch>
            <a:fillRect/>
          </a:stretch>
        </p:blipFill>
        <p:spPr>
          <a:xfrm>
            <a:off x="2681993" y="2006746"/>
            <a:ext cx="5923602" cy="3965944"/>
          </a:xfrm>
          <a:prstGeom prst="rect">
            <a:avLst/>
          </a:prstGeom>
        </p:spPr>
      </p:pic>
    </p:spTree>
    <p:extLst>
      <p:ext uri="{BB962C8B-B14F-4D97-AF65-F5344CB8AC3E}">
        <p14:creationId xmlns:p14="http://schemas.microsoft.com/office/powerpoint/2010/main" val="1624816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2398092"/>
          </a:xfrm>
          <a:prstGeom prst="rect">
            <a:avLst/>
          </a:prstGeom>
        </p:spPr>
        <p:txBody>
          <a:bodyPr vert="horz" wrap="square" lIns="0" tIns="12700" rIns="0" bIns="0" rtlCol="0">
            <a:spAutoFit/>
          </a:bodyPr>
          <a:lstStyle/>
          <a:p>
            <a:pPr marL="12700">
              <a:spcBef>
                <a:spcPts val="100"/>
              </a:spcBef>
            </a:pPr>
            <a:r>
              <a:rPr lang="es-ES" sz="2500" noProof="0"/>
              <a:t>Extra</a:t>
            </a:r>
            <a:br>
              <a:rPr lang="es-ES" sz="2500" noProof="0"/>
            </a:br>
            <a:r>
              <a:rPr lang="es-ES" b="0">
                <a:effectLst/>
                <a:highlight>
                  <a:srgbClr val="FFFFFF"/>
                </a:highlight>
                <a:latin typeface="Calibri" panose="020F0502020204030204" pitchFamily="34" charset="0"/>
                <a:cs typeface="Calibri" panose="020F0502020204030204" pitchFamily="34" charset="0"/>
              </a:rPr>
              <a:t>4. Compare </a:t>
            </a:r>
            <a:r>
              <a:rPr lang="es-ES" b="0" err="1">
                <a:effectLst/>
                <a:highlight>
                  <a:srgbClr val="FFFFFF"/>
                </a:highlight>
                <a:latin typeface="Calibri" panose="020F0502020204030204" pitchFamily="34" charset="0"/>
                <a:cs typeface="Calibri" panose="020F0502020204030204" pitchFamily="34" charset="0"/>
              </a:rPr>
              <a:t>the</a:t>
            </a:r>
            <a:r>
              <a:rPr lang="es-ES" b="0">
                <a:effectLst/>
                <a:highlight>
                  <a:srgbClr val="FFFFFF"/>
                </a:highlight>
                <a:latin typeface="Calibri" panose="020F0502020204030204" pitchFamily="34" charset="0"/>
                <a:cs typeface="Calibri" panose="020F0502020204030204" pitchFamily="34" charset="0"/>
              </a:rPr>
              <a:t> </a:t>
            </a:r>
            <a:r>
              <a:rPr lang="es-ES" b="0" err="1">
                <a:effectLst/>
                <a:highlight>
                  <a:srgbClr val="FFFFFF"/>
                </a:highlight>
                <a:latin typeface="Calibri" panose="020F0502020204030204" pitchFamily="34" charset="0"/>
                <a:cs typeface="Calibri" panose="020F0502020204030204" pitchFamily="34" charset="0"/>
              </a:rPr>
              <a:t>SiNx</a:t>
            </a:r>
            <a:r>
              <a:rPr lang="es-ES" b="0">
                <a:effectLst/>
                <a:highlight>
                  <a:srgbClr val="FFFFFF"/>
                </a:highlight>
                <a:latin typeface="Calibri" panose="020F0502020204030204" pitchFamily="34" charset="0"/>
                <a:cs typeface="Calibri" panose="020F0502020204030204" pitchFamily="34" charset="0"/>
              </a:rPr>
              <a:t> and SOI </a:t>
            </a:r>
            <a:r>
              <a:rPr lang="es-ES" b="0" err="1">
                <a:effectLst/>
                <a:highlight>
                  <a:srgbClr val="FFFFFF"/>
                </a:highlight>
                <a:latin typeface="Calibri" panose="020F0502020204030204" pitchFamily="34" charset="0"/>
                <a:cs typeface="Calibri" panose="020F0502020204030204" pitchFamily="34" charset="0"/>
              </a:rPr>
              <a:t>technologies</a:t>
            </a:r>
            <a:r>
              <a:rPr lang="es-ES" b="0">
                <a:effectLst/>
                <a:highlight>
                  <a:srgbClr val="FFFFFF"/>
                </a:highlight>
                <a:latin typeface="Calibri" panose="020F0502020204030204" pitchFamily="34" charset="0"/>
                <a:cs typeface="Calibri" panose="020F0502020204030204" pitchFamily="34" charset="0"/>
              </a:rPr>
              <a:t> </a:t>
            </a:r>
            <a:br>
              <a:rPr lang="es-ES" b="0">
                <a:solidFill>
                  <a:srgbClr val="3B3B3B"/>
                </a:solidFill>
                <a:effectLst/>
                <a:highlight>
                  <a:srgbClr val="FFFFFF"/>
                </a:highlight>
                <a:latin typeface="Menlo" panose="020B0609030804020204" pitchFamily="49" charset="0"/>
              </a:rPr>
            </a:br>
            <a:br>
              <a:rPr lang="es-ES" b="0">
                <a:solidFill>
                  <a:srgbClr val="3B3B3B"/>
                </a:solidFill>
                <a:effectLst/>
                <a:highlight>
                  <a:srgbClr val="FFFFFF"/>
                </a:highlight>
                <a:latin typeface="Menlo" panose="020B0609030804020204" pitchFamily="49" charset="0"/>
              </a:rPr>
            </a:br>
            <a:br>
              <a:rPr lang="es-ES" b="0">
                <a:solidFill>
                  <a:srgbClr val="3B3B3B"/>
                </a:solidFill>
                <a:effectLst/>
                <a:highlight>
                  <a:srgbClr val="FFFFFF"/>
                </a:highlight>
                <a:latin typeface="Menlo" panose="020B0609030804020204" pitchFamily="49" charset="0"/>
              </a:rPr>
            </a:br>
            <a:br>
              <a:rPr lang="es-ES" b="0">
                <a:solidFill>
                  <a:srgbClr val="3B3B3B"/>
                </a:solidFill>
                <a:effectLst/>
                <a:highlight>
                  <a:srgbClr val="FFFFFF"/>
                </a:highlight>
                <a:latin typeface="Menlo" panose="020B0609030804020204" pitchFamily="49" charset="0"/>
              </a:rPr>
            </a:br>
            <a:br>
              <a:rPr lang="es-ES" sz="2500" noProof="0"/>
            </a:br>
            <a:endParaRPr lang="es-ES" sz="2500" b="0" noProof="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noProof="0" smtClean="0"/>
              <a:t>20</a:t>
            </a:fld>
            <a:endParaRPr lang="es-ES" noProof="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noProof="0"/>
              <a:t>LAB 1.0 WAVEGUIDES</a:t>
            </a: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46634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noProof="0"/>
          </a:p>
        </p:txBody>
      </p:sp>
      <p:sp>
        <p:nvSpPr>
          <p:cNvPr id="4" name="Marcador de texto 2">
            <a:extLst>
              <a:ext uri="{FF2B5EF4-FFF2-40B4-BE49-F238E27FC236}">
                <a16:creationId xmlns:a16="http://schemas.microsoft.com/office/drawing/2014/main" id="{FC1887CB-4861-23C8-EB31-962F2C3FC044}"/>
              </a:ext>
            </a:extLst>
          </p:cNvPr>
          <p:cNvSpPr>
            <a:spLocks noGrp="1"/>
          </p:cNvSpPr>
          <p:nvPr>
            <p:ph type="body" idx="1"/>
          </p:nvPr>
        </p:nvSpPr>
        <p:spPr>
          <a:xfrm>
            <a:off x="1052623" y="1786270"/>
            <a:ext cx="10302949" cy="2031325"/>
          </a:xfrm>
        </p:spPr>
        <p:txBody>
          <a:bodyPr/>
          <a:lstStyle/>
          <a:p>
            <a:pPr algn="just"/>
            <a:r>
              <a:rPr lang="es-ES" sz="1200" dirty="0">
                <a:solidFill>
                  <a:srgbClr val="3B3B3B"/>
                </a:solidFill>
                <a:effectLst/>
                <a:highlight>
                  <a:srgbClr val="FFFFFF"/>
                </a:highlight>
                <a:latin typeface="Arial" panose="020B0604020202020204" pitchFamily="34" charset="0"/>
                <a:cs typeface="Arial" panose="020B0604020202020204" pitchFamily="34" charset="0"/>
              </a:rPr>
              <a:t>La elección entre las plataformas fotónicas de Nitruro de Silicio (</a:t>
            </a:r>
            <a:r>
              <a:rPr lang="es-ES" sz="1200" dirty="0" err="1">
                <a:solidFill>
                  <a:srgbClr val="3B3B3B"/>
                </a:solidFill>
                <a:effectLst/>
                <a:highlight>
                  <a:srgbClr val="FFFFFF"/>
                </a:highlight>
                <a:latin typeface="Arial" panose="020B0604020202020204" pitchFamily="34" charset="0"/>
                <a:cs typeface="Arial" panose="020B0604020202020204" pitchFamily="34" charset="0"/>
              </a:rPr>
              <a:t>SiNx</a:t>
            </a:r>
            <a:r>
              <a:rPr lang="es-ES" sz="1200" dirty="0">
                <a:solidFill>
                  <a:srgbClr val="3B3B3B"/>
                </a:solidFill>
                <a:effectLst/>
                <a:highlight>
                  <a:srgbClr val="FFFFFF"/>
                </a:highlight>
                <a:latin typeface="Arial" panose="020B0604020202020204" pitchFamily="34" charset="0"/>
                <a:cs typeface="Arial" panose="020B0604020202020204" pitchFamily="34" charset="0"/>
              </a:rPr>
              <a:t>) o Silicio sobre Aislante (SO) es </a:t>
            </a:r>
            <a:r>
              <a:rPr lang="es-ES" sz="1200" dirty="0">
                <a:solidFill>
                  <a:srgbClr val="3B3B3B"/>
                </a:solidFill>
                <a:highlight>
                  <a:srgbClr val="FFFFFF"/>
                </a:highlight>
                <a:latin typeface="Arial" panose="020B0604020202020204" pitchFamily="34" charset="0"/>
                <a:cs typeface="Arial" panose="020B0604020202020204" pitchFamily="34" charset="0"/>
              </a:rPr>
              <a:t>un </a:t>
            </a:r>
            <a:r>
              <a:rPr lang="es-ES" sz="1200" dirty="0">
                <a:solidFill>
                  <a:srgbClr val="3B3B3B"/>
                </a:solidFill>
                <a:effectLst/>
                <a:highlight>
                  <a:srgbClr val="FFFFFF"/>
                </a:highlight>
                <a:latin typeface="Arial" panose="020B0604020202020204" pitchFamily="34" charset="0"/>
                <a:cs typeface="Arial" panose="020B0604020202020204" pitchFamily="34" charset="0"/>
              </a:rPr>
              <a:t>balance entre la densidad de integración y las pérdidas de propagación. Por un lado, la tecnología SOI destaca por su alto contraste de índice de refracción, lo que confina fuertemente el modo óptico en un núcleo. Este confinamiento permite diseñar guías con radios de curvatura reducidos (inferiores a 10 µm) sin sufrir pérdidas significativas por radiación, esta característica sirve para hacer circuitos fotónicos más compactos. Sin embargo, la intensa interacción del campo óptico con las interfaces de la guía hace que el SOI sea muy sensible a la rugosidad de las paredes (</a:t>
            </a:r>
            <a:r>
              <a:rPr lang="es-ES" sz="1200" dirty="0" err="1">
                <a:solidFill>
                  <a:srgbClr val="3B3B3B"/>
                </a:solidFill>
                <a:effectLst/>
                <a:highlight>
                  <a:srgbClr val="FFFFFF"/>
                </a:highlight>
                <a:latin typeface="Arial" panose="020B0604020202020204" pitchFamily="34" charset="0"/>
                <a:cs typeface="Arial" panose="020B0604020202020204" pitchFamily="34" charset="0"/>
              </a:rPr>
              <a:t>sidewall</a:t>
            </a:r>
            <a:r>
              <a:rPr lang="es-ES" sz="1200" dirty="0">
                <a:solidFill>
                  <a:srgbClr val="3B3B3B"/>
                </a:solidFill>
                <a:effectLst/>
                <a:highlight>
                  <a:srgbClr val="FFFFFF"/>
                </a:highlight>
                <a:latin typeface="Arial" panose="020B0604020202020204" pitchFamily="34" charset="0"/>
                <a:cs typeface="Arial" panose="020B0604020202020204" pitchFamily="34" charset="0"/>
              </a:rPr>
              <a:t> </a:t>
            </a:r>
            <a:r>
              <a:rPr lang="es-ES" sz="1200" dirty="0" err="1">
                <a:solidFill>
                  <a:srgbClr val="3B3B3B"/>
                </a:solidFill>
                <a:effectLst/>
                <a:highlight>
                  <a:srgbClr val="FFFFFF"/>
                </a:highlight>
                <a:latin typeface="Arial" panose="020B0604020202020204" pitchFamily="34" charset="0"/>
                <a:cs typeface="Arial" panose="020B0604020202020204" pitchFamily="34" charset="0"/>
              </a:rPr>
              <a:t>roughness</a:t>
            </a:r>
            <a:r>
              <a:rPr lang="es-ES" sz="1200" dirty="0">
                <a:solidFill>
                  <a:srgbClr val="3B3B3B"/>
                </a:solidFill>
                <a:effectLst/>
                <a:highlight>
                  <a:srgbClr val="FFFFFF"/>
                </a:highlight>
                <a:latin typeface="Arial" panose="020B0604020202020204" pitchFamily="34" charset="0"/>
                <a:cs typeface="Arial" panose="020B0604020202020204" pitchFamily="34" charset="0"/>
              </a:rPr>
              <a:t>), lo que </a:t>
            </a:r>
            <a:r>
              <a:rPr lang="es-ES" sz="1200">
                <a:solidFill>
                  <a:srgbClr val="3B3B3B"/>
                </a:solidFill>
                <a:effectLst/>
                <a:highlight>
                  <a:srgbClr val="FFFFFF"/>
                </a:highlight>
                <a:latin typeface="Arial" panose="020B0604020202020204" pitchFamily="34" charset="0"/>
                <a:cs typeface="Arial" panose="020B0604020202020204" pitchFamily="34" charset="0"/>
              </a:rPr>
              <a:t>aumenta bastante sus </a:t>
            </a:r>
            <a:r>
              <a:rPr lang="es-ES" sz="1200" dirty="0">
                <a:solidFill>
                  <a:srgbClr val="3B3B3B"/>
                </a:solidFill>
                <a:effectLst/>
                <a:highlight>
                  <a:srgbClr val="FFFFFF"/>
                </a:highlight>
                <a:latin typeface="Arial" panose="020B0604020202020204" pitchFamily="34" charset="0"/>
                <a:cs typeface="Arial" panose="020B0604020202020204" pitchFamily="34" charset="0"/>
              </a:rPr>
              <a:t>pérdidas de propagación.</a:t>
            </a:r>
          </a:p>
          <a:p>
            <a:pPr algn="just"/>
            <a:endParaRPr lang="es-ES" sz="1200" dirty="0">
              <a:solidFill>
                <a:srgbClr val="3B3B3B"/>
              </a:solidFill>
              <a:highlight>
                <a:srgbClr val="FFFFFF"/>
              </a:highlight>
              <a:latin typeface="Arial" panose="020B0604020202020204" pitchFamily="34" charset="0"/>
              <a:cs typeface="Arial" panose="020B0604020202020204" pitchFamily="34" charset="0"/>
            </a:endParaRPr>
          </a:p>
          <a:p>
            <a:pPr algn="just"/>
            <a:endParaRPr lang="es-ES" sz="1200" dirty="0">
              <a:solidFill>
                <a:srgbClr val="3B3B3B"/>
              </a:solidFill>
              <a:effectLst/>
              <a:highlight>
                <a:srgbClr val="FFFFFF"/>
              </a:highlight>
              <a:latin typeface="Arial" panose="020B0604020202020204" pitchFamily="34" charset="0"/>
              <a:cs typeface="Arial" panose="020B0604020202020204" pitchFamily="34" charset="0"/>
            </a:endParaRPr>
          </a:p>
          <a:p>
            <a:pPr algn="just"/>
            <a:r>
              <a:rPr lang="es-ES" sz="1200" dirty="0">
                <a:solidFill>
                  <a:srgbClr val="3B3B3B"/>
                </a:solidFill>
                <a:effectLst/>
                <a:highlight>
                  <a:srgbClr val="FFFFFF"/>
                </a:highlight>
                <a:latin typeface="Arial" panose="020B0604020202020204" pitchFamily="34" charset="0"/>
                <a:cs typeface="Arial" panose="020B0604020202020204" pitchFamily="34" charset="0"/>
              </a:rPr>
              <a:t> Por otro lado, la plataforma </a:t>
            </a:r>
            <a:r>
              <a:rPr lang="es-ES" sz="1200" dirty="0" err="1">
                <a:solidFill>
                  <a:srgbClr val="3B3B3B"/>
                </a:solidFill>
                <a:effectLst/>
                <a:highlight>
                  <a:srgbClr val="FFFFFF"/>
                </a:highlight>
                <a:latin typeface="Arial" panose="020B0604020202020204" pitchFamily="34" charset="0"/>
                <a:cs typeface="Arial" panose="020B0604020202020204" pitchFamily="34" charset="0"/>
              </a:rPr>
              <a:t>SiNx</a:t>
            </a:r>
            <a:r>
              <a:rPr lang="es-ES" sz="1200" dirty="0">
                <a:solidFill>
                  <a:srgbClr val="3B3B3B"/>
                </a:solidFill>
                <a:effectLst/>
                <a:highlight>
                  <a:srgbClr val="FFFFFF"/>
                </a:highlight>
                <a:latin typeface="Arial" panose="020B0604020202020204" pitchFamily="34" charset="0"/>
                <a:cs typeface="Arial" panose="020B0604020202020204" pitchFamily="34" charset="0"/>
              </a:rPr>
              <a:t> opera con un contraste de índice moderado, requiriendo secciones transversales mayores (ej. 1.2 µm x 300 nm) y radios de curvatura mucho más amplios para evitar que el campo evanescente escape hacia el sustrato, lo que inevitablemente aumenta el tamaño del circuito. A cambio, al tener un modo óptico más relajado y menos confinado contra los bordes, la tecnología </a:t>
            </a:r>
            <a:r>
              <a:rPr lang="es-ES" sz="1200" dirty="0" err="1">
                <a:solidFill>
                  <a:srgbClr val="3B3B3B"/>
                </a:solidFill>
                <a:effectLst/>
                <a:highlight>
                  <a:srgbClr val="FFFFFF"/>
                </a:highlight>
                <a:latin typeface="Arial" panose="020B0604020202020204" pitchFamily="34" charset="0"/>
                <a:cs typeface="Arial" panose="020B0604020202020204" pitchFamily="34" charset="0"/>
              </a:rPr>
              <a:t>SiNx</a:t>
            </a:r>
            <a:r>
              <a:rPr lang="es-ES" sz="1200" dirty="0">
                <a:solidFill>
                  <a:srgbClr val="3B3B3B"/>
                </a:solidFill>
                <a:effectLst/>
                <a:highlight>
                  <a:srgbClr val="FFFFFF"/>
                </a:highlight>
                <a:latin typeface="Arial" panose="020B0604020202020204" pitchFamily="34" charset="0"/>
                <a:cs typeface="Arial" panose="020B0604020202020204" pitchFamily="34" charset="0"/>
              </a:rPr>
              <a:t> es mucho menos vulnerable a las imperfecciones de fabricación, logrando pérdidas de propagación baja.</a:t>
            </a:r>
            <a:endParaRPr lang="es-ES" sz="1200" b="0" dirty="0">
              <a:solidFill>
                <a:srgbClr val="3B3B3B"/>
              </a:solidFill>
              <a:effectLst/>
              <a:highlight>
                <a:srgbClr val="FFFFFF"/>
              </a:highlight>
              <a:latin typeface="Menlo" panose="020B0609030804020204" pitchFamily="49" charset="0"/>
            </a:endParaRPr>
          </a:p>
        </p:txBody>
      </p:sp>
    </p:spTree>
    <p:extLst>
      <p:ext uri="{BB962C8B-B14F-4D97-AF65-F5344CB8AC3E}">
        <p14:creationId xmlns:p14="http://schemas.microsoft.com/office/powerpoint/2010/main" val="470099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lang="es-ES" noProof="0"/>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lang="es-ES" sz="3200" b="1" spc="-5" noProof="0" err="1">
                <a:solidFill>
                  <a:srgbClr val="FFFFFF"/>
                </a:solidFill>
                <a:latin typeface="Lucida Sans"/>
                <a:cs typeface="Lucida Sans"/>
              </a:rPr>
              <a:t>Thank</a:t>
            </a:r>
            <a:r>
              <a:rPr lang="es-ES" sz="3200" b="1" spc="-55" noProof="0">
                <a:solidFill>
                  <a:srgbClr val="FFFFFF"/>
                </a:solidFill>
                <a:latin typeface="Lucida Sans"/>
                <a:cs typeface="Lucida Sans"/>
              </a:rPr>
              <a:t> </a:t>
            </a:r>
            <a:r>
              <a:rPr lang="es-ES" sz="3200" b="1" noProof="0" err="1">
                <a:solidFill>
                  <a:srgbClr val="FFFFFF"/>
                </a:solidFill>
                <a:latin typeface="Lucida Sans"/>
                <a:cs typeface="Lucida Sans"/>
              </a:rPr>
              <a:t>you</a:t>
            </a:r>
            <a:endParaRPr lang="es-ES" sz="3200" noProof="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noProof="0" smtClean="0"/>
              <a:t>21</a:t>
            </a:fld>
            <a:endParaRPr lang="es-ES" noProof="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7ba718fa-9d06-4528-8214-330819bd502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59499E5F7A8591499F900D3C6538D1A4" ma:contentTypeVersion="5" ma:contentTypeDescription="Crear nuevo documento." ma:contentTypeScope="" ma:versionID="d5258100b2b291ea1fd5fd07af70ba4b">
  <xsd:schema xmlns:xsd="http://www.w3.org/2001/XMLSchema" xmlns:xs="http://www.w3.org/2001/XMLSchema" xmlns:p="http://schemas.microsoft.com/office/2006/metadata/properties" xmlns:ns3="7ba718fa-9d06-4528-8214-330819bd5022" targetNamespace="http://schemas.microsoft.com/office/2006/metadata/properties" ma:root="true" ma:fieldsID="e33d34fcb3f9bdb8d377f6a0c060aab5" ns3:_="">
    <xsd:import namespace="7ba718fa-9d06-4528-8214-330819bd5022"/>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a718fa-9d06-4528-8214-330819bd502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417344-9226-4DE4-BCC4-49412BB9F60F}">
  <ds:schemaRefs>
    <ds:schemaRef ds:uri="http://schemas.microsoft.com/sharepoint/v3/contenttype/forms"/>
  </ds:schemaRefs>
</ds:datastoreItem>
</file>

<file path=customXml/itemProps2.xml><?xml version="1.0" encoding="utf-8"?>
<ds:datastoreItem xmlns:ds="http://schemas.openxmlformats.org/officeDocument/2006/customXml" ds:itemID="{BBD11FF4-03F1-4FA5-8CD2-DF25E0E46942}">
  <ds:schemaRefs>
    <ds:schemaRef ds:uri="http://purl.org/dc/dcmitype/"/>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purl.org/dc/terms/"/>
    <ds:schemaRef ds:uri="http://purl.org/dc/elements/1.1/"/>
    <ds:schemaRef ds:uri="http://schemas.openxmlformats.org/package/2006/metadata/core-properties"/>
    <ds:schemaRef ds:uri="7ba718fa-9d06-4528-8214-330819bd5022"/>
  </ds:schemaRefs>
</ds:datastoreItem>
</file>

<file path=customXml/itemProps3.xml><?xml version="1.0" encoding="utf-8"?>
<ds:datastoreItem xmlns:ds="http://schemas.openxmlformats.org/officeDocument/2006/customXml" ds:itemID="{FBEDF2A6-FDFE-40D7-BAB3-CAA169E095AD}">
  <ds:schemaRefs>
    <ds:schemaRef ds:uri="7ba718fa-9d06-4528-8214-330819bd50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13</TotalTime>
  <Words>2802</Words>
  <Application>Microsoft Office PowerPoint</Application>
  <PresentationFormat>Panorámica</PresentationFormat>
  <Paragraphs>238</Paragraphs>
  <Slides>21</Slides>
  <Notes>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21</vt:i4>
      </vt:variant>
    </vt:vector>
  </HeadingPairs>
  <TitlesOfParts>
    <vt:vector size="30" baseType="lpstr">
      <vt:lpstr>Aptos</vt:lpstr>
      <vt:lpstr>Arial</vt:lpstr>
      <vt:lpstr>Calibri</vt:lpstr>
      <vt:lpstr>Cambria Math</vt:lpstr>
      <vt:lpstr>Lucida Sans</vt:lpstr>
      <vt:lpstr>Menlo</vt:lpstr>
      <vt:lpstr>Times New Roman</vt:lpstr>
      <vt:lpstr>Wingdings</vt:lpstr>
      <vt:lpstr>Office Theme</vt:lpstr>
      <vt:lpstr>Presentación de PowerPoint</vt:lpstr>
      <vt:lpstr>Instructions General</vt:lpstr>
      <vt:lpstr>Learning outcome #1 – Effective index of a waveguide </vt:lpstr>
      <vt:lpstr>Presentación de PowerPoint</vt:lpstr>
      <vt:lpstr>Presentación de PowerPoint</vt:lpstr>
      <vt:lpstr>Presentación de PowerPoint</vt:lpstr>
      <vt:lpstr>Presentación de PowerPoint</vt:lpstr>
      <vt:lpstr>Presentación de PowerPoint</vt:lpstr>
      <vt:lpstr>Presentación de PowerPoint</vt:lpstr>
      <vt:lpstr>Learning outcome #2 – Wavelength behavior Wavelength 1.5-1.6 µm (step 0.01 µm) – width 1.2 µm</vt:lpstr>
      <vt:lpstr>Presentación de PowerPoint</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Presentación de PowerPoint</vt:lpstr>
      <vt:lpstr>Learning outcome #5 – Bend waveguide radius vs. loss – deep Find  neff_TE0 for wvl 1.55 µm, width 1.2 µm for R=25,50,75,100, 125,150 µm </vt:lpstr>
      <vt:lpstr>Presentación de PowerPoint</vt:lpstr>
      <vt:lpstr>Extra 1. Repeat the LO.2. wavelength behavior simulations, considering the updated materials and dimensions.   </vt:lpstr>
      <vt:lpstr>Extra 2. Repeat the LO.3. width dependence analysis, now sweeping in a 300nm - 1um range.    </vt:lpstr>
      <vt:lpstr>Extra 3. Find the safe radius for this technology. Consider sweeping the radius in a 5um to 30um range.     </vt:lpstr>
      <vt:lpstr>Extra 4. Compare the SiNx and SOI technologies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Sergio David Ferraz de Jesus</cp:lastModifiedBy>
  <cp:revision>2</cp:revision>
  <dcterms:created xsi:type="dcterms:W3CDTF">2025-01-27T02:46:57Z</dcterms:created>
  <dcterms:modified xsi:type="dcterms:W3CDTF">2026-03-14T17:39:10Z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0x01010059499E5F7A8591499F900D3C6538D1A4</vt:lpwstr>
  </property>
</Properties>
</file>